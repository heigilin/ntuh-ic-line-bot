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d92e1aec75e4f04" /><Relationship Type="http://schemas.openxmlformats.org/officeDocument/2006/relationships/extended-properties" Target="/docProps/app.xml" Id="Rf8f80379946e4497" /><Relationship Type="http://schemas.openxmlformats.org/officeDocument/2006/relationships/officeDocument" Target="/ppt/presentation.xml" Id="R0d82f2605a8145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52617cc128b44c3"/>
  </p:sldMasterIdLst>
  <p:notesMasterIdLst>
    <p:notesMasterId xmlns:r="http://schemas.openxmlformats.org/officeDocument/2006/relationships" r:id="R9c56917af5f44c08"/>
  </p:notesMasterIdLst>
  <p:sldIdLst>
    <p:sldId xmlns:r="http://schemas.openxmlformats.org/officeDocument/2006/relationships" id="256" r:id="R2829662ff19c41f5"/>
    <p:sldId xmlns:r="http://schemas.openxmlformats.org/officeDocument/2006/relationships" id="257" r:id="Rfbb1220f929044e8"/>
    <p:sldId xmlns:r="http://schemas.openxmlformats.org/officeDocument/2006/relationships" id="258" r:id="Rbe723fb664734273"/>
    <p:sldId xmlns:r="http://schemas.openxmlformats.org/officeDocument/2006/relationships" id="259" r:id="Ra18544c325ab4fd3"/>
    <p:sldId xmlns:r="http://schemas.openxmlformats.org/officeDocument/2006/relationships" id="260" r:id="R21bf8e08bafa4a7d"/>
    <p:sldId xmlns:r="http://schemas.openxmlformats.org/officeDocument/2006/relationships" id="261" r:id="R302f12c35b914ac7"/>
    <p:sldId xmlns:r="http://schemas.openxmlformats.org/officeDocument/2006/relationships" id="262" r:id="R97b4773ec00340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ce09c9d4254508" /><Relationship Type="http://schemas.openxmlformats.org/officeDocument/2006/relationships/slideMaster" Target="/ppt/slideMasters/slideMaster1.xml" Id="R952617cc128b44c3" /><Relationship Type="http://schemas.openxmlformats.org/officeDocument/2006/relationships/notesMaster" Target="/ppt/notesMasters/notesMaster1.xml" Id="R9c56917af5f44c08" /><Relationship Type="http://schemas.openxmlformats.org/officeDocument/2006/relationships/presProps" Target="/ppt/presProps.xml" Id="R6dd8c130dfb14742" /><Relationship Type="http://schemas.openxmlformats.org/officeDocument/2006/relationships/tableStyles" Target="/ppt/tableStyles.xml" Id="R183b1561d24e4680" /><Relationship Type="http://schemas.openxmlformats.org/officeDocument/2006/relationships/slide" Target="/ppt/slides/slide1.xml" Id="R2829662ff19c41f5" /><Relationship Type="http://schemas.openxmlformats.org/officeDocument/2006/relationships/slide" Target="/ppt/slides/slide2.xml" Id="Rfbb1220f929044e8" /><Relationship Type="http://schemas.openxmlformats.org/officeDocument/2006/relationships/slide" Target="/ppt/slides/slide3.xml" Id="Rbe723fb664734273" /><Relationship Type="http://schemas.openxmlformats.org/officeDocument/2006/relationships/slide" Target="/ppt/slides/slide4.xml" Id="Ra18544c325ab4fd3" /><Relationship Type="http://schemas.openxmlformats.org/officeDocument/2006/relationships/slide" Target="/ppt/slides/slide5.xml" Id="R21bf8e08bafa4a7d" /><Relationship Type="http://schemas.openxmlformats.org/officeDocument/2006/relationships/slide" Target="/ppt/slides/slide6.xml" Id="R302f12c35b914ac7" /><Relationship Type="http://schemas.openxmlformats.org/officeDocument/2006/relationships/slide" Target="/ppt/slides/slide7.xml" Id="R97b4773ec00340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b0b758d2894c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224365f75e480c" /><Relationship Type="http://schemas.openxmlformats.org/officeDocument/2006/relationships/notesMaster" Target="/ppt/notesMasters/notesMaster1.xml" Id="Rb2a0f12afe9042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eac46d98584dfc" /><Relationship Type="http://schemas.openxmlformats.org/officeDocument/2006/relationships/notesMaster" Target="/ppt/notesMasters/notesMaster1.xml" Id="R26c19a23c76143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3becd3caaa24938" /><Relationship Type="http://schemas.openxmlformats.org/officeDocument/2006/relationships/notesMaster" Target="/ppt/notesMasters/notesMaster1.xml" Id="R490c4a7c136a41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28682624c0c47df" /><Relationship Type="http://schemas.openxmlformats.org/officeDocument/2006/relationships/notesMaster" Target="/ppt/notesMasters/notesMaster1.xml" Id="Rc499ef9d106e4b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44fea28103e4cd8" /><Relationship Type="http://schemas.openxmlformats.org/officeDocument/2006/relationships/notesMaster" Target="/ppt/notesMasters/notesMaster1.xml" Id="Rb379255b0ba842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d7503ca5424a1e" /><Relationship Type="http://schemas.openxmlformats.org/officeDocument/2006/relationships/notesMaster" Target="/ppt/notesMasters/notesMaster1.xml" Id="R5db3eea43ef744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f3b8387ceb4b0b" /><Relationship Type="http://schemas.openxmlformats.org/officeDocument/2006/relationships/notesMaster" Target="/ppt/notesMasters/notesMaster1.xml" Id="R74acb35b7d1f48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e36caf93bf48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9b315cbf47442e" /><Relationship Type="http://schemas.openxmlformats.org/officeDocument/2006/relationships/slideLayout" Target="/ppt/slideLayouts/slideLayout1.xml" Id="R7ddeb429a65042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deb429a65042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2fed3b7b24e33" /><Relationship Type="http://schemas.openxmlformats.org/officeDocument/2006/relationships/image" Target="/ppt/media/image.png" Id="Rcbc3141af7c5444c" /><Relationship Type="http://schemas.openxmlformats.org/officeDocument/2006/relationships/notesSlide" Target="/ppt/notesSlides/notesSlide1.xml" Id="Rc058c2ff816c48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6647f772c4fc8" /><Relationship Type="http://schemas.openxmlformats.org/officeDocument/2006/relationships/image" Target="/ppt/media/image.jpeg" Id="R542c4a37ac4749ef" /><Relationship Type="http://schemas.openxmlformats.org/officeDocument/2006/relationships/notesSlide" Target="/ppt/notesSlides/notesSlide2.xml" Id="R636dd26412a643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dc363477b4f4a" /><Relationship Type="http://schemas.openxmlformats.org/officeDocument/2006/relationships/notesSlide" Target="/ppt/notesSlides/notesSlide3.xml" Id="R8f59109342b64b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21037442f4b85" /><Relationship Type="http://schemas.openxmlformats.org/officeDocument/2006/relationships/notesSlide" Target="/ppt/notesSlides/notesSlide4.xml" Id="R8f5f0ea2da5a43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a547014c9c4471" /><Relationship Type="http://schemas.openxmlformats.org/officeDocument/2006/relationships/notesSlide" Target="/ppt/notesSlides/notesSlide5.xml" Id="R720fd250522848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aed9fb418347e1" /><Relationship Type="http://schemas.openxmlformats.org/officeDocument/2006/relationships/image" Target="/ppt/media/image2.jpeg" Id="R5e67eebcfc814d93" /><Relationship Type="http://schemas.openxmlformats.org/officeDocument/2006/relationships/notesSlide" Target="/ppt/notesSlides/notesSlide6.xml" Id="R84cbd60c24b84be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0ebcd609134572" /><Relationship Type="http://schemas.openxmlformats.org/officeDocument/2006/relationships/image" Target="/ppt/media/image2.png" Id="Rb827ec5c2ee4447f" /><Relationship Type="http://schemas.openxmlformats.org/officeDocument/2006/relationships/notesSlide" Target="/ppt/notesSlides/notesSlide7.xml" Id="Rb6883a033f5a49a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4947913-6058-43A7-B0B5-3EA14D9A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4"/>
          </a:solidFill>
          <a:ln xmlns:a="http://schemas.openxmlformats.org/drawingml/2006/main" w="0">
            <a:solidFill>
              <a:srgbClr val="F2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FC2E86-8D9A-446B-9D62-67136E57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-857250"/>
            <a:ext cx="5619750" cy="561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2D6"/>
          </a:solidFill>
          <a:ln xmlns:a="http://schemas.openxmlformats.org/drawingml/2006/main" w="0">
            <a:solidFill>
              <a:srgbClr val="DDF2D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ED793D-873F-4161-9FBA-2316E1C0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6B4F"/>
                </a:solidFill>
              </a:defRPr>
            </a:pPr>
            <a:r>
              <a:rPr sz="1800" b="1">
                <a:solidFill>
                  <a:srgbClr val="006B4F"/>
                </a:solidFill>
              </a:rPr>
              <a:t>臨床忙碌時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5B43D-4012-4CEA-B423-0733FC90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477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362F"/>
                </a:solidFill>
              </a:defRPr>
            </a:pPr>
            <a:r>
              <a:rPr sz="3900" b="1">
                <a:solidFill>
                  <a:srgbClr val="17362F"/>
                </a:solidFill>
              </a:rPr>
              <a:t>感管問題，</a:t>
            </a:r>
          </a:p>
          <a:p xmlns:a="http://schemas.openxmlformats.org/drawingml/2006/main">
            <a:pPr algn="l">
              <a:defRPr sz="3900" b="1">
                <a:solidFill>
                  <a:srgbClr val="17362F"/>
                </a:solidFill>
              </a:defRPr>
            </a:pPr>
            <a:r>
              <a:rPr sz="3900" b="1">
                <a:solidFill>
                  <a:srgbClr val="17362F"/>
                </a:solidFill>
              </a:rPr>
              <a:t>不用再翻找不同文件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9CF482-AEF3-48A8-94A6-DE59AE14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C64"/>
                </a:solidFill>
              </a:defRPr>
            </a:pPr>
            <a:r>
              <a:rPr sz="1950" b="0">
                <a:solidFill>
                  <a:srgbClr val="526C64"/>
                </a:solidFill>
              </a:rPr>
              <a:t>直接用日常語句提問，快速找到處置重點。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B715A-8D80-415C-89E0-279CF59A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27813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6B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8DF895-1131-41A0-B2F1-76B2E97B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2781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台大感管 LINE 起來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9B1CCE-86E2-4D46-A85F-419DF88E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781050"/>
            <a:ext cx="2476500" cy="44767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2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3141af7c5444c"/>
          <a:stretch xmlns:a="http://schemas.openxmlformats.org/drawingml/2006/main"/>
        </p:blipFill>
        <p:spPr>
          <a:xfrm xmlns:a="http://schemas.openxmlformats.org/drawingml/2006/main">
            <a:off x="8686800" y="1137831"/>
            <a:ext cx="1581150" cy="243921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72417-EBAF-4CA6-A764-72BF5889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6B4F"/>
                </a:solidFill>
              </a:defRPr>
            </a:pPr>
            <a:r>
              <a:rPr sz="1875" b="1">
                <a:solidFill>
                  <a:srgbClr val="006B4F"/>
                </a:solidFill>
              </a:rPr>
              <a:t>Qbee 陪你隨手查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3BE01-ED18-496A-ADBD-C52BA051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62103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C918A"/>
                </a:solidFill>
              </a:defRPr>
            </a:pPr>
            <a:r>
              <a:rPr sz="1050" b="0">
                <a:solidFill>
                  <a:srgbClr val="7C918A"/>
                </a:solidFill>
              </a:rPr>
              <a:t>院內送審版</a:t>
            </a:r>
          </a:p>
        </p:txBody>
      </p:sp>
    </p:spTree>
    <p:extLst>
      <p:ext uri="{BB962C8B-B14F-4D97-AF65-F5344CB8AC3E}">
        <p14:creationId xmlns:p14="http://schemas.microsoft.com/office/powerpoint/2010/main" val="1109057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1D3117-9539-4DB6-A4FB-0037350B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B4F"/>
                </a:solidFill>
              </a:defRPr>
            </a:pPr>
            <a:r>
              <a:rPr sz="1275" b="1">
                <a:solidFill>
                  <a:srgbClr val="006B4F"/>
                </a:solidFill>
              </a:rPr>
              <a:t>9 月 1 日起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08C64-77FA-4C17-A753-0F7F20EC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62F"/>
                </a:solidFill>
              </a:defRPr>
            </a:pPr>
            <a:r>
              <a:rPr sz="3000" b="1">
                <a:solidFill>
                  <a:srgbClr val="17362F"/>
                </a:solidFill>
              </a:rPr>
              <a:t>加入官方帳號，就能直接問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BB843-5634-4DBC-8ACA-5D8D7C2E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39624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8F4"/>
          </a:solidFill>
          <a:ln xmlns:a="http://schemas.openxmlformats.org/drawingml/2006/main" w="9525">
            <a:solidFill>
              <a:srgbClr val="D6E8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c4a37ac4749e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3950" y="213360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CF2681-029E-4BB4-8910-D5A12809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0955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362F"/>
                </a:solidFill>
              </a:defRPr>
            </a:pPr>
            <a:r>
              <a:rPr sz="2775" b="1">
                <a:solidFill>
                  <a:srgbClr val="17362F"/>
                </a:solidFill>
              </a:rPr>
              <a:t>台大感管 LINE 起來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E0115-213E-4C8E-B328-5833ACF8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9146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88078"/>
                </a:solidFill>
              </a:defRPr>
            </a:pPr>
            <a:r>
              <a:rPr sz="1350" b="1">
                <a:solidFill>
                  <a:srgbClr val="688078"/>
                </a:solidFill>
              </a:rPr>
              <a:t>官方專屬 ID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C1FA5-71D5-4EB0-AB03-35D07FA5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2575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006B4F"/>
                </a:solidFill>
              </a:defRPr>
            </a:pPr>
            <a:r>
              <a:rPr sz="3750" b="1">
                <a:solidFill>
                  <a:srgbClr val="006B4F"/>
                </a:solidFill>
              </a:rPr>
              <a:t>@ntuhic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8B772-D2AA-48D2-B761-2A7994B7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62450"/>
            <a:ext cx="14287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33F"/>
          </a:solidFill>
          <a:ln xmlns:a="http://schemas.openxmlformats.org/drawingml/2006/main" w="0">
            <a:solidFill>
              <a:srgbClr val="1623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50F7F-9225-410A-8F8E-34512A0E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624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臨床照護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8C58DE-0B67-4F6E-917A-76481E98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62450"/>
            <a:ext cx="14287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6B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727BE-C0E7-4304-B9A4-DA4368BD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6245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評鑑查核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397B7-EE72-4AC3-B082-DBD7729B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01015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6C64"/>
                </a:solidFill>
              </a:defRPr>
            </a:pPr>
            <a:r>
              <a:rPr sz="1650" b="0">
                <a:solidFill>
                  <a:srgbClr val="526C64"/>
                </a:solidFill>
              </a:rPr>
              <a:t>不需背關鍵字，直接描述你遇到的問題。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15C46-DA24-4E10-8AD9-C53578B7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827B"/>
                </a:solidFill>
              </a:defRPr>
            </a:pPr>
            <a:r>
              <a:rPr sz="1050" b="0">
                <a:solidFill>
                  <a:srgbClr val="6C827B"/>
                </a:solidFill>
              </a:rPr>
              <a:t>台大醫院感染管制中心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CBE10-04E9-43B0-AFF1-3FF2B105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19850"/>
            <a:ext cx="493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C827B"/>
                </a:solidFill>
              </a:defRPr>
            </a:pPr>
            <a:r>
              <a:rPr sz="1050" b="0">
                <a:solidFill>
                  <a:srgbClr val="6C827B"/>
                </a:solidFill>
              </a:rPr>
              <a:t>請勿輸入病人姓名、病歷號、床號等個資</a:t>
            </a:r>
          </a:p>
        </p:txBody>
      </p:sp>
    </p:spTree>
    <p:extLst>
      <p:ext uri="{BB962C8B-B14F-4D97-AF65-F5344CB8AC3E}">
        <p14:creationId xmlns:p14="http://schemas.microsoft.com/office/powerpoint/2010/main" val="1560254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DDFAE5-C676-44CA-812E-5D434A16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B4F"/>
                </a:solidFill>
              </a:defRPr>
            </a:pPr>
            <a:r>
              <a:rPr sz="1275" b="1">
                <a:solidFill>
                  <a:srgbClr val="006B4F"/>
                </a:solidFill>
              </a:rPr>
              <a:t>真實工作情境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405EFC-0073-44B2-8949-09134465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62F"/>
                </a:solidFill>
              </a:defRPr>
            </a:pPr>
            <a:r>
              <a:rPr sz="3000" b="1">
                <a:solidFill>
                  <a:srgbClr val="17362F"/>
                </a:solidFill>
              </a:rPr>
              <a:t>你平常怎麼問，就怎麼輸入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7DBE0-6102-4E69-BF1D-0AF65BDA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1047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2CF03-AA61-48EF-942D-DA368ABD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6477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6B4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A9486-C224-45A9-9DA5-E006F8D7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FB26B-01B8-44EF-B9D5-C8B64C1C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288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2F"/>
                </a:solidFill>
              </a:defRPr>
            </a:pPr>
            <a:r>
              <a:rPr sz="2100" b="1">
                <a:solidFill>
                  <a:srgbClr val="17362F"/>
                </a:solidFill>
              </a:rPr>
              <a:t>流感解隔標準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31B61-9CF7-439D-818E-7E023506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288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169"/>
                </a:solidFill>
              </a:defRPr>
            </a:pPr>
            <a:r>
              <a:rPr sz="1575" b="0">
                <a:solidFill>
                  <a:srgbClr val="587169"/>
                </a:solidFill>
              </a:rPr>
              <a:t>掌握解隔條件與取消隔離醫囑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307E2E-2D02-48E3-A672-E6B798A6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047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52CE8F-05F8-4B48-92F6-878F11E9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6477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6B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1E851-EB39-48E1-B2EC-030E8BBA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B1385-5707-49AE-B8A7-BE64EEBE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813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2F"/>
                </a:solidFill>
              </a:defRPr>
            </a:pPr>
            <a:r>
              <a:rPr sz="2100" b="1">
                <a:solidFill>
                  <a:srgbClr val="17362F"/>
                </a:solidFill>
              </a:rPr>
              <a:t>透析室消毒濃度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00377D-DECD-444E-A85C-53AD6D2D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813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169"/>
                </a:solidFill>
              </a:defRPr>
            </a:pPr>
            <a:r>
              <a:rPr sz="1575" b="0">
                <a:solidFill>
                  <a:srgbClr val="587169"/>
                </a:solidFill>
              </a:rPr>
              <a:t>依情境整理濃度與污染處理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D60E8E-BE02-4BDE-A85E-FBCB1171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104775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D3EC8-4CDF-4CD2-BD18-04764A8F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05350"/>
            <a:ext cx="6477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9B32"/>
          </a:solidFill>
          <a:ln xmlns:a="http://schemas.openxmlformats.org/drawingml/2006/main" w="0">
            <a:solidFill>
              <a:srgbClr val="F49B3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8966F-A26B-4136-ABCE-23622675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053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6ABA9A-A5C2-4A06-92D0-98B60675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339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62F"/>
                </a:solidFill>
              </a:defRPr>
            </a:pPr>
            <a:r>
              <a:rPr sz="2100" b="1">
                <a:solidFill>
                  <a:srgbClr val="17362F"/>
                </a:solidFill>
              </a:rPr>
              <a:t>CJD 院內系統勾稽怎麼查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105305-DC64-48EA-82E9-F6208EF0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3390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169"/>
                </a:solidFill>
              </a:defRPr>
            </a:pPr>
            <a:r>
              <a:rPr sz="1575" b="0">
                <a:solidFill>
                  <a:srgbClr val="587169"/>
                </a:solidFill>
              </a:rPr>
              <a:t>找到查詢入口與執行紀錄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7A2802-56F2-4739-8F3E-40841536E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827B"/>
                </a:solidFill>
              </a:defRPr>
            </a:pPr>
            <a:r>
              <a:rPr sz="1050" b="0">
                <a:solidFill>
                  <a:srgbClr val="6C827B"/>
                </a:solidFill>
              </a:rPr>
              <a:t>台大醫院感染管制中心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D41D75-72D9-46FD-BB24-615A1CF07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19850"/>
            <a:ext cx="493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C827B"/>
                </a:solidFill>
              </a:defRPr>
            </a:pPr>
            <a:r>
              <a:rPr sz="1050" b="0">
                <a:solidFill>
                  <a:srgbClr val="6C827B"/>
                </a:solidFill>
              </a:rPr>
              <a:t>請勿輸入病人姓名、病歷號、床號等個資</a:t>
            </a:r>
          </a:p>
        </p:txBody>
      </p:sp>
    </p:spTree>
    <p:extLst>
      <p:ext uri="{BB962C8B-B14F-4D97-AF65-F5344CB8AC3E}">
        <p14:creationId xmlns:p14="http://schemas.microsoft.com/office/powerpoint/2010/main" val="13598739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FFB0BE-05E2-454A-BB7B-CF4AE611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B4F"/>
                </a:solidFill>
              </a:defRPr>
            </a:pPr>
            <a:r>
              <a:rPr sz="1275" b="1">
                <a:solidFill>
                  <a:srgbClr val="006B4F"/>
                </a:solidFill>
              </a:rPr>
              <a:t>依工作目的切換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DE63B6-EA62-440B-90EB-F0F5840E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62F"/>
                </a:solidFill>
              </a:defRPr>
            </a:pPr>
            <a:r>
              <a:rPr sz="3000" b="1">
                <a:solidFill>
                  <a:srgbClr val="17362F"/>
                </a:solidFill>
              </a:rPr>
              <a:t>同一個主題，可以換一種回答方向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747909-53B9-4465-B377-DF7274E0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1244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3F7FF"/>
          </a:solidFill>
          <a:ln xmlns:a="http://schemas.openxmlformats.org/drawingml/2006/main" w="9525">
            <a:solidFill>
              <a:srgbClr val="D9E3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1032B-C327-453A-B670-7ED48EBE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1619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33F"/>
          </a:solidFill>
          <a:ln xmlns:a="http://schemas.openxmlformats.org/drawingml/2006/main" w="0">
            <a:solidFill>
              <a:srgbClr val="16233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9632EA-3AF8-48A2-BFA7-DDC2AB4F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臨床照護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F6DC22-3AB5-43D8-A7D6-3B58D351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622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233F"/>
                </a:solidFill>
              </a:defRPr>
            </a:pPr>
            <a:r>
              <a:rPr sz="2550" b="1">
                <a:solidFill>
                  <a:srgbClr val="16233F"/>
                </a:solidFill>
              </a:rPr>
              <a:t>今天要怎麼做？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9B523-EB72-4116-99B6-38221586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8615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05373"/>
                </a:solidFill>
              </a:defRPr>
            </a:pPr>
            <a:r>
              <a:rPr sz="1875" b="0">
                <a:solidFill>
                  <a:srgbClr val="405373"/>
                </a:solidFill>
              </a:rPr>
              <a:t>• 隔離與病人安置</a:t>
            </a:r>
          </a:p>
          <a:p xmlns:a="http://schemas.openxmlformats.org/drawingml/2006/main">
            <a:pPr algn="l">
              <a:defRPr sz="1875" b="0">
                <a:solidFill>
                  <a:srgbClr val="405373"/>
                </a:solidFill>
              </a:defRPr>
            </a:pPr>
            <a:r>
              <a:rPr sz="1875" b="0">
                <a:solidFill>
                  <a:srgbClr val="405373"/>
                </a:solidFill>
              </a:rPr>
              <a:t>• 採檢送驗與 PPE</a:t>
            </a:r>
          </a:p>
          <a:p xmlns:a="http://schemas.openxmlformats.org/drawingml/2006/main">
            <a:pPr algn="l">
              <a:defRPr sz="1875" b="0">
                <a:solidFill>
                  <a:srgbClr val="405373"/>
                </a:solidFill>
              </a:defRPr>
            </a:pPr>
            <a:r>
              <a:rPr sz="1875" b="0">
                <a:solidFill>
                  <a:srgbClr val="405373"/>
                </a:solidFill>
              </a:rPr>
              <a:t>• 清消與解除隔離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D573BD-6AA5-4824-8DA7-36AFB27E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33550"/>
            <a:ext cx="5124450" cy="3714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2F8F4"/>
          </a:solidFill>
          <a:ln xmlns:a="http://schemas.openxmlformats.org/drawingml/2006/main" w="9525">
            <a:solidFill>
              <a:srgbClr val="D6E8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6D262E-2AAB-4989-A744-06580A91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38350"/>
            <a:ext cx="16192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6B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F830B8-A103-4793-8E09-DF809D52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383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評鑑查核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6F744-A732-4EE8-8979-A95C0DC0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762250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6B4F"/>
                </a:solidFill>
              </a:defRPr>
            </a:pPr>
            <a:r>
              <a:rPr sz="2550" b="1">
                <a:solidFill>
                  <a:srgbClr val="006B4F"/>
                </a:solidFill>
              </a:rPr>
              <a:t>委員可能問什麼？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985685-B00A-4BD0-8FCE-ACB18192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86150"/>
            <a:ext cx="3905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5695D"/>
                </a:solidFill>
              </a:defRPr>
            </a:pPr>
            <a:r>
              <a:rPr sz="1875" b="0">
                <a:solidFill>
                  <a:srgbClr val="45695D"/>
                </a:solidFill>
              </a:rPr>
              <a:t>• 對應查核面向</a:t>
            </a:r>
          </a:p>
          <a:p xmlns:a="http://schemas.openxmlformats.org/drawingml/2006/main">
            <a:pPr algn="l">
              <a:defRPr sz="1875" b="0">
                <a:solidFill>
                  <a:srgbClr val="45695D"/>
                </a:solidFill>
              </a:defRPr>
            </a:pPr>
            <a:r>
              <a:rPr sz="1875" b="0">
                <a:solidFill>
                  <a:srgbClr val="45695D"/>
                </a:solidFill>
              </a:rPr>
              <a:t>• 可出示的執行紀錄</a:t>
            </a:r>
          </a:p>
          <a:p xmlns:a="http://schemas.openxmlformats.org/drawingml/2006/main">
            <a:pPr algn="l">
              <a:defRPr sz="1875" b="0">
                <a:solidFill>
                  <a:srgbClr val="45695D"/>
                </a:solidFill>
              </a:defRPr>
            </a:pPr>
            <a:r>
              <a:rPr sz="1875" b="0">
                <a:solidFill>
                  <a:srgbClr val="45695D"/>
                </a:solidFill>
              </a:rPr>
              <a:t>• KM 核定文件與勾稽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262FB6-6C7C-4C97-BE13-1AF394A0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827B"/>
                </a:solidFill>
              </a:defRPr>
            </a:pPr>
            <a:r>
              <a:rPr sz="1050" b="0">
                <a:solidFill>
                  <a:srgbClr val="6C827B"/>
                </a:solidFill>
              </a:rPr>
              <a:t>台大醫院感染管制中心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4379F-C356-4115-B903-B2470E7D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19850"/>
            <a:ext cx="493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C827B"/>
                </a:solidFill>
              </a:defRPr>
            </a:pPr>
            <a:r>
              <a:rPr sz="1050" b="0">
                <a:solidFill>
                  <a:srgbClr val="6C827B"/>
                </a:solidFill>
              </a:rPr>
              <a:t>請勿輸入病人姓名、病歷號、床號等個資</a:t>
            </a:r>
          </a:p>
        </p:txBody>
      </p:sp>
    </p:spTree>
    <p:extLst>
      <p:ext uri="{BB962C8B-B14F-4D97-AF65-F5344CB8AC3E}">
        <p14:creationId xmlns:p14="http://schemas.microsoft.com/office/powerpoint/2010/main" val="14798750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98B2EA-9E71-4480-8220-A99BAFF6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B4F"/>
                </a:solidFill>
              </a:defRPr>
            </a:pPr>
            <a:r>
              <a:rPr sz="1275" b="1">
                <a:solidFill>
                  <a:srgbClr val="006B4F"/>
                </a:solidFill>
              </a:rPr>
              <a:t>完成體驗，就有抽獎資格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CA88F-1A47-451C-A49D-482D7FA7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62F"/>
                </a:solidFill>
              </a:defRPr>
            </a:pPr>
            <a:r>
              <a:rPr sz="3000" b="1">
                <a:solidFill>
                  <a:srgbClr val="17362F"/>
                </a:solidFill>
              </a:rPr>
              <a:t>三個步驟，一次完成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E122E-6EEC-4350-81AF-6A01F79E9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66900"/>
            <a:ext cx="3333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2FE2C5-99C8-4131-BB03-7A1CCC06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717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3F"/>
          </a:solidFill>
          <a:ln xmlns:a="http://schemas.openxmlformats.org/drawingml/2006/main" w="0">
            <a:solidFill>
              <a:srgbClr val="16233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156CB-7783-4F14-B284-750DFFB6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171700"/>
            <a:ext cx="1123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37C62-F7D8-4593-9FD2-11FB15A9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2F"/>
                </a:solidFill>
              </a:defRPr>
            </a:pPr>
            <a:r>
              <a:rPr sz="2025" b="1">
                <a:solidFill>
                  <a:srgbClr val="17362F"/>
                </a:solidFill>
              </a:rPr>
              <a:t>加入並開始提問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0480F0-3D4F-4D28-88DE-B831397D4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66900"/>
            <a:ext cx="3333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55BE9E-40BA-49D4-B606-47736488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717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233F"/>
          </a:solidFill>
          <a:ln xmlns:a="http://schemas.openxmlformats.org/drawingml/2006/main" w="0">
            <a:solidFill>
              <a:srgbClr val="16233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921DBE-CC2C-439A-AE15-855538B7E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71700"/>
            <a:ext cx="1123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DE93F-E0FC-418B-8D36-89AEAF1A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58140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2F"/>
                </a:solidFill>
              </a:defRPr>
            </a:pPr>
            <a:r>
              <a:rPr sz="2025" b="1">
                <a:solidFill>
                  <a:srgbClr val="17362F"/>
                </a:solidFill>
              </a:rPr>
              <a:t>完成 5 次有效問答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C3B145-D9E2-4E4D-B9F4-AA95DD5A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66900"/>
            <a:ext cx="33337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448B82-D262-4720-954E-94C03566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7170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4F"/>
          </a:solidFill>
          <a:ln xmlns:a="http://schemas.openxmlformats.org/drawingml/2006/main" w="0">
            <a:solidFill>
              <a:srgbClr val="006B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FDFED-D46A-4AFE-9E80-ECF7FC32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171700"/>
            <a:ext cx="11239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5EDF6-4E88-4C40-B22F-11FFC52F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81400"/>
            <a:ext cx="2724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2F"/>
                </a:solidFill>
              </a:defRPr>
            </a:pPr>
            <a:r>
              <a:rPr sz="2025" b="1">
                <a:solidFill>
                  <a:srgbClr val="17362F"/>
                </a:solidFill>
              </a:rPr>
              <a:t>完成滿意度問卷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81B61-4B3E-48DD-849F-01BBA466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43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26C64"/>
                </a:solidFill>
              </a:defRPr>
            </a:pPr>
            <a:r>
              <a:rPr sz="1650" b="0">
                <a:solidFill>
                  <a:srgbClr val="526C64"/>
                </a:solidFill>
              </a:rPr>
              <a:t>完成問卷即取得一次抽獎資格；每個 LINE 帳號限一次。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5DC80D-811F-4923-A3E2-329175ED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827B"/>
                </a:solidFill>
              </a:defRPr>
            </a:pPr>
            <a:r>
              <a:rPr sz="1050" b="0">
                <a:solidFill>
                  <a:srgbClr val="6C827B"/>
                </a:solidFill>
              </a:rPr>
              <a:t>台大醫院感染管制中心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613287-09BF-4754-823F-55B765C0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19850"/>
            <a:ext cx="493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C827B"/>
                </a:solidFill>
              </a:defRPr>
            </a:pPr>
            <a:r>
              <a:rPr sz="1050" b="0">
                <a:solidFill>
                  <a:srgbClr val="6C827B"/>
                </a:solidFill>
              </a:rPr>
              <a:t>請勿輸入病人姓名、病歷號、床號等個資</a:t>
            </a:r>
          </a:p>
        </p:txBody>
      </p:sp>
    </p:spTree>
    <p:extLst>
      <p:ext uri="{BB962C8B-B14F-4D97-AF65-F5344CB8AC3E}">
        <p14:creationId xmlns:p14="http://schemas.microsoft.com/office/powerpoint/2010/main" val="14609653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AB8A69-9B03-4559-B225-22462A76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6B4F"/>
                </a:solidFill>
              </a:defRPr>
            </a:pPr>
            <a:r>
              <a:rPr sz="1275" b="1">
                <a:solidFill>
                  <a:srgbClr val="006B4F"/>
                </a:solidFill>
              </a:rPr>
              <a:t>一百份好禮即享券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07B24-FB85-446E-B792-2CE459DB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362F"/>
                </a:solidFill>
              </a:defRPr>
            </a:pPr>
            <a:r>
              <a:rPr sz="3000" b="1">
                <a:solidFill>
                  <a:srgbClr val="17362F"/>
                </a:solidFill>
              </a:rPr>
              <a:t>完成體驗，還有機會把午餐帶走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3ABF3F-7B66-4AA4-BD91-6814E338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3810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8ED"/>
          </a:solidFill>
          <a:ln xmlns:a="http://schemas.openxmlformats.org/drawingml/2006/main" w="9525">
            <a:solidFill>
              <a:srgbClr val="F4DFC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67eebcfc814d93"/>
          <a:srcRect xmlns:a="http://schemas.openxmlformats.org/drawingml/2006/main" l="0" t="462" r="0" b="4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800" y="2152650"/>
            <a:ext cx="3905250" cy="2914650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7DAD9-29D9-4015-B8E7-1BF5A1BC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336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A64A22"/>
                </a:solidFill>
              </a:defRPr>
            </a:pPr>
            <a:r>
              <a:rPr sz="2850" b="1">
                <a:solidFill>
                  <a:srgbClr val="A64A22"/>
                </a:solidFill>
              </a:rPr>
              <a:t>摩斯漢堡 C153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57BDE-E6B4-49E1-9A0B-F0E32979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78130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62F"/>
                </a:solidFill>
              </a:defRPr>
            </a:pPr>
            <a:r>
              <a:rPr sz="2025" b="1">
                <a:solidFill>
                  <a:srgbClr val="17362F"/>
                </a:solidFill>
              </a:rPr>
              <a:t>蜜汁烤雞堡</a:t>
            </a:r>
          </a:p>
          <a:p xmlns:a="http://schemas.openxmlformats.org/drawingml/2006/main">
            <a:pPr algn="l">
              <a:defRPr sz="2025" b="1">
                <a:solidFill>
                  <a:srgbClr val="17362F"/>
                </a:solidFill>
              </a:defRPr>
            </a:pPr>
            <a:r>
              <a:rPr sz="2025" b="1">
                <a:solidFill>
                  <a:srgbClr val="17362F"/>
                </a:solidFill>
              </a:rPr>
              <a:t>＋ 方塊薯餅 3 個</a:t>
            </a:r>
          </a:p>
          <a:p xmlns:a="http://schemas.openxmlformats.org/drawingml/2006/main">
            <a:pPr algn="l">
              <a:defRPr sz="2025" b="1">
                <a:solidFill>
                  <a:srgbClr val="17362F"/>
                </a:solidFill>
              </a:defRPr>
            </a:pPr>
            <a:r>
              <a:rPr sz="2025" b="1">
                <a:solidFill>
                  <a:srgbClr val="17362F"/>
                </a:solidFill>
              </a:rPr>
              <a:t>＋ 冰紅茶 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286BF8-580B-448A-9404-9308FC8E5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76750"/>
            <a:ext cx="17145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9B32"/>
          </a:solidFill>
          <a:ln xmlns:a="http://schemas.openxmlformats.org/drawingml/2006/main" w="0">
            <a:solidFill>
              <a:srgbClr val="F49B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46A972-93B2-4692-93B4-B34D5CADA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767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共 100 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85B795-723B-4944-A421-F70C6CCF3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4767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D645A"/>
                </a:solidFill>
              </a:defRPr>
            </a:pPr>
            <a:r>
              <a:rPr sz="1425" b="0">
                <a:solidFill>
                  <a:srgbClr val="6D645A"/>
                </a:solidFill>
              </a:rPr>
              <a:t>中獎後由官方帳號傳送至 LINE 對話。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6FD697-87AA-47DC-BB07-1D89F22B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C827B"/>
                </a:solidFill>
              </a:defRPr>
            </a:pPr>
            <a:r>
              <a:rPr sz="1050" b="0">
                <a:solidFill>
                  <a:srgbClr val="6C827B"/>
                </a:solidFill>
              </a:rPr>
              <a:t>台大醫院感染管制中心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F06E0-FB85-48E4-9A0B-78C52803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19850"/>
            <a:ext cx="4933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C827B"/>
                </a:solidFill>
              </a:defRPr>
            </a:pPr>
            <a:r>
              <a:rPr sz="1050" b="0">
                <a:solidFill>
                  <a:srgbClr val="6C827B"/>
                </a:solidFill>
              </a:rPr>
              <a:t>請勿輸入病人姓名、病歷號、床號等個資</a:t>
            </a:r>
          </a:p>
        </p:txBody>
      </p:sp>
    </p:spTree>
    <p:extLst>
      <p:ext uri="{BB962C8B-B14F-4D97-AF65-F5344CB8AC3E}">
        <p14:creationId xmlns:p14="http://schemas.microsoft.com/office/powerpoint/2010/main" val="4682322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6B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493B67-152C-409E-B0E0-7BA78BC4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8E34A"/>
                </a:solidFill>
              </a:defRPr>
            </a:pPr>
            <a:r>
              <a:rPr sz="1500" b="1">
                <a:solidFill>
                  <a:srgbClr val="B8E34A"/>
                </a:solidFill>
              </a:rPr>
              <a:t>9 月 1 日起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645C83-2CDB-480B-9A72-00DB99E4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762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搜尋 @ntuhic</a:t>
            </a:r>
          </a:p>
          <a:p xmlns:a="http://schemas.openxmlformats.org/drawingml/2006/main">
            <a:pPr algn="l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和 Qbee 一起，感管 LINE 起來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58D4A-C62D-49E4-B951-DB73CDD0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E9F7EF"/>
                </a:solidFill>
              </a:defRPr>
            </a:pPr>
            <a:r>
              <a:rPr sz="1875" b="1">
                <a:solidFill>
                  <a:srgbClr val="E9F7EF"/>
                </a:solidFill>
              </a:rPr>
              <a:t>前 3 天完成問卷，抽獎機會加碼 5 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7B910-A498-48C9-AE0E-08EA4A56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876300"/>
            <a:ext cx="2667000" cy="33337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7ec5c2ee4447f"/>
          <a:stretch xmlns:a="http://schemas.openxmlformats.org/drawingml/2006/main"/>
        </p:blipFill>
        <p:spPr>
          <a:xfrm xmlns:a="http://schemas.openxmlformats.org/drawingml/2006/main">
            <a:off x="8572500" y="1206564"/>
            <a:ext cx="1905000" cy="189217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FC99C6-51EA-448A-ABBB-61732F9F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6B4F"/>
                </a:solidFill>
              </a:defRPr>
            </a:pPr>
            <a:r>
              <a:rPr sz="1875" b="1">
                <a:solidFill>
                  <a:srgbClr val="006B4F"/>
                </a:solidFill>
              </a:rPr>
              <a:t>掃碼加入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6BC09C-F309-4DC1-92B7-84A8A8BEA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4287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233F"/>
          </a:solidFill>
          <a:ln xmlns:a="http://schemas.openxmlformats.org/drawingml/2006/main" w="0">
            <a:solidFill>
              <a:srgbClr val="1623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A5B4F6-2DF9-42FB-8692-A83F0C7F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臨床照護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1E42B-0F10-49B3-A50C-54C93A26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24300"/>
            <a:ext cx="14287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8A65"/>
          </a:solidFill>
          <a:ln xmlns:a="http://schemas.openxmlformats.org/drawingml/2006/main" w="0">
            <a:solidFill>
              <a:srgbClr val="0C8A6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51E9B7-27F2-497C-A587-759248BE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24300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評鑑查核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EBF747-A44E-4286-A322-5A960E633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24300"/>
            <a:ext cx="18097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9B32"/>
          </a:solidFill>
          <a:ln xmlns:a="http://schemas.openxmlformats.org/drawingml/2006/main" w="0">
            <a:solidFill>
              <a:srgbClr val="F49B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015E62-3010-483B-8234-856EA3840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92430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滿意度抽獎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FAF32-A5AB-4765-B3B4-516C8A35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10172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9EFE7"/>
                </a:solidFill>
              </a:defRPr>
            </a:pPr>
            <a:r>
              <a:rPr sz="1275" b="0">
                <a:solidFill>
                  <a:srgbClr val="D9EFE7"/>
                </a:solidFill>
              </a:rPr>
              <a:t>如與正式公告不一致，以正式公告為準。請勿輸入病人姓名、病歷號、床號等個資。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7EA32-FEEC-45EB-BABB-52598F74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BDDD1"/>
                </a:solidFill>
              </a:defRPr>
            </a:pPr>
            <a:r>
              <a:rPr sz="1125" b="0">
                <a:solidFill>
                  <a:srgbClr val="BBDDD1"/>
                </a:solidFill>
              </a:rPr>
              <a:t>主辦單位｜台大醫院感染管制中心</a:t>
            </a:r>
          </a:p>
        </p:txBody>
      </p:sp>
    </p:spTree>
    <p:extLst>
      <p:ext uri="{BB962C8B-B14F-4D97-AF65-F5344CB8AC3E}">
        <p14:creationId xmlns:p14="http://schemas.microsoft.com/office/powerpoint/2010/main" val="13987356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2026-08-27T06:49:21.1150000Z</dcterms:created>
  <dcterms:modified xsi:type="dcterms:W3CDTF">2026-08-27T06:49:21.1150000Z</dcterms:modified>
</coreProperties>
</file>