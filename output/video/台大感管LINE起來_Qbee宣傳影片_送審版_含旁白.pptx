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6" Type="http://schemas.openxmlformats.org/officeDocument/2006/relationships/image" Target="../media/image2.png"/><Relationship Id="rId5" Type="http://schemas.openxmlformats.org/officeDocument/2006/relationships/image" Target="../media/image3.jpe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6" Type="http://schemas.openxmlformats.org/officeDocument/2006/relationships/image" Target="../media/image2.png"/><Relationship Id="rId5" Type="http://schemas.openxmlformats.org/officeDocument/2006/relationships/image" Target="../media/image4.jpe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wav"/><Relationship Id="rId1" Type="http://schemas.microsoft.com/office/2007/relationships/media" Target="../media/media7.wav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4947913-6058-43A7-B0B5-3EA14D9A9FA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8F4"/>
          </a:solidFill>
          <a:ln w="0">
            <a:solidFill>
              <a:srgbClr val="F2F8F4"/>
            </a:solidFill>
            <a:prstDash val="solid"/>
          </a:ln>
        </p:spPr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86FC2E86-8D9A-446B-9D62-67136E574D9E}"/>
              </a:ext>
            </a:extLst>
          </p:cNvPr>
          <p:cNvSpPr>
            <a:spLocks noGrp="1"/>
          </p:cNvSpPr>
          <p:nvPr/>
        </p:nvSpPr>
        <p:spPr>
          <a:xfrm>
            <a:off x="7715250" y="-857250"/>
            <a:ext cx="5619750" cy="5619750"/>
          </a:xfrm>
          <a:prstGeom prst="ellipse">
            <a:avLst/>
          </a:prstGeom>
          <a:solidFill>
            <a:srgbClr val="DDF2D6"/>
          </a:solidFill>
          <a:ln w="0">
            <a:solidFill>
              <a:srgbClr val="DDF2D6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DED793D-873F-4161-9FBA-2316E1C0E046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571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006B4F"/>
                </a:solidFill>
              </a:defRPr>
            </a:pPr>
            <a:r>
              <a:rPr sz="1800" b="1">
                <a:solidFill>
                  <a:srgbClr val="006B4F"/>
                </a:solidFill>
              </a:rPr>
              <a:t>臨床忙碌時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65B43D-4012-4CEA-B423-0733FC90048D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6477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900" b="1">
                <a:solidFill>
                  <a:srgbClr val="17362F"/>
                </a:solidFill>
              </a:defRPr>
            </a:pPr>
            <a:r>
              <a:rPr sz="3900" b="1">
                <a:solidFill>
                  <a:srgbClr val="17362F"/>
                </a:solidFill>
              </a:rPr>
              <a:t>感管問題，</a:t>
            </a:r>
          </a:p>
          <a:p>
            <a:pPr algn="l">
              <a:defRPr sz="3900" b="1">
                <a:solidFill>
                  <a:srgbClr val="17362F"/>
                </a:solidFill>
              </a:defRPr>
            </a:pPr>
            <a:r>
              <a:rPr sz="3900" b="1">
                <a:solidFill>
                  <a:srgbClr val="17362F"/>
                </a:solidFill>
              </a:rPr>
              <a:t>不用再翻找不同文件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9CF482-AEF3-48A8-94A6-DE59AE14E0B3}"/>
              </a:ext>
            </a:extLst>
          </p:cNvPr>
          <p:cNvSpPr>
            <a:spLocks noGrp="1"/>
          </p:cNvSpPr>
          <p:nvPr/>
        </p:nvSpPr>
        <p:spPr>
          <a:xfrm>
            <a:off x="723900" y="3143250"/>
            <a:ext cx="5905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0">
                <a:solidFill>
                  <a:srgbClr val="526C64"/>
                </a:solidFill>
              </a:defRPr>
            </a:pPr>
            <a:r>
              <a:rPr sz="1950" b="0">
                <a:solidFill>
                  <a:srgbClr val="526C64"/>
                </a:solidFill>
              </a:rPr>
              <a:t>直接用日常語句提問，快速找到處置重點。</a:t>
            </a: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96BB715A-8D80-415C-89E0-279CF59ACFF3}"/>
              </a:ext>
            </a:extLst>
          </p:cNvPr>
          <p:cNvSpPr>
            <a:spLocks noGrp="1"/>
          </p:cNvSpPr>
          <p:nvPr/>
        </p:nvSpPr>
        <p:spPr>
          <a:xfrm>
            <a:off x="723900" y="4038600"/>
            <a:ext cx="2781300" cy="457200"/>
          </a:xfrm>
          <a:prstGeom prst="roundRect">
            <a:avLst>
              <a:gd name="adj" fmla="val 50000"/>
            </a:avLst>
          </a:prstGeom>
          <a:solidFill>
            <a:srgbClr val="006B4F"/>
          </a:solidFill>
          <a:ln w="0">
            <a:solidFill>
              <a:srgbClr val="006B4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98DF895-1131-41A0-B2F1-76B2E97B9426}"/>
              </a:ext>
            </a:extLst>
          </p:cNvPr>
          <p:cNvSpPr>
            <a:spLocks noGrp="1"/>
          </p:cNvSpPr>
          <p:nvPr/>
        </p:nvSpPr>
        <p:spPr>
          <a:xfrm>
            <a:off x="723900" y="4038600"/>
            <a:ext cx="2781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台大感管 LINE 起來</a:t>
            </a: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CC9B1CCE-86E2-4D46-A85F-419DF88ED20E}"/>
              </a:ext>
            </a:extLst>
          </p:cNvPr>
          <p:cNvSpPr>
            <a:spLocks noGrp="1"/>
          </p:cNvSpPr>
          <p:nvPr/>
        </p:nvSpPr>
        <p:spPr>
          <a:xfrm>
            <a:off x="8239125" y="781050"/>
            <a:ext cx="2476500" cy="44767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CFE2D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0" name="圖片 1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686800" y="1137831"/>
            <a:ext cx="1581150" cy="2439213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9C672417-EBAF-4CA6-A764-72BF58896DAE}"/>
              </a:ext>
            </a:extLst>
          </p:cNvPr>
          <p:cNvSpPr>
            <a:spLocks noGrp="1"/>
          </p:cNvSpPr>
          <p:nvPr/>
        </p:nvSpPr>
        <p:spPr>
          <a:xfrm>
            <a:off x="8401050" y="4000500"/>
            <a:ext cx="21526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006B4F"/>
                </a:solidFill>
              </a:defRPr>
            </a:pPr>
            <a:r>
              <a:rPr sz="1875" b="1">
                <a:solidFill>
                  <a:srgbClr val="006B4F"/>
                </a:solidFill>
              </a:rPr>
              <a:t>Qbee 陪你隨手查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283BE01-ED18-496A-ADBD-C52BA05165D9}"/>
              </a:ext>
            </a:extLst>
          </p:cNvPr>
          <p:cNvSpPr>
            <a:spLocks noGrp="1"/>
          </p:cNvSpPr>
          <p:nvPr/>
        </p:nvSpPr>
        <p:spPr>
          <a:xfrm>
            <a:off x="9963150" y="62103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7C918A"/>
                </a:solidFill>
              </a:defRPr>
            </a:pPr>
            <a:r>
              <a:rPr sz="1050" b="0">
                <a:solidFill>
                  <a:srgbClr val="7C918A"/>
                </a:solidFill>
              </a:rPr>
              <a:t>院內送審版</a:t>
            </a:r>
          </a:p>
        </p:txBody>
      </p:sp>
      <p:pic>
        <p:nvPicPr>
          <p:cNvPr id="12" name="narration-0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791200" y="31242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057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9000"/>
    </mc:Choice>
    <mc:Fallback>
      <p:transition spd="slow" advClick="0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26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11D3117-9539-4DB6-A4FB-0037350BE83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006B4F"/>
                </a:solidFill>
              </a:defRPr>
            </a:pPr>
            <a:r>
              <a:rPr sz="1275" b="1">
                <a:solidFill>
                  <a:srgbClr val="006B4F"/>
                </a:solidFill>
              </a:rPr>
              <a:t>9 月 1 日起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D708C64-77FA-4C17-A753-0F7F20ECDE14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000" b="1">
                <a:solidFill>
                  <a:srgbClr val="17362F"/>
                </a:solidFill>
              </a:defRPr>
            </a:pPr>
            <a:r>
              <a:rPr sz="3000" b="1">
                <a:solidFill>
                  <a:srgbClr val="17362F"/>
                </a:solidFill>
              </a:rPr>
              <a:t>加入官方帳號，就能直接問</a:t>
            </a: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F20BB843-5634-4DBC-8ACA-5D8D7C2E6297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10820400" cy="3962400"/>
          </a:xfrm>
          <a:prstGeom prst="roundRect">
            <a:avLst>
              <a:gd name="adj" fmla="val 3846"/>
            </a:avLst>
          </a:prstGeom>
          <a:solidFill>
            <a:srgbClr val="F2F8F4"/>
          </a:solidFill>
          <a:ln w="9525">
            <a:solidFill>
              <a:srgbClr val="D6E8D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18" name="圖片 1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123950" y="2133600"/>
            <a:ext cx="2381250" cy="2381250"/>
          </a:xfrm>
          <a:prstGeom prst="roundRect">
            <a:avLst>
              <a:gd name="adj" fmla="val 4800"/>
            </a:avLst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4CF2681-029E-4BB4-8910-D5A12809B8BC}"/>
              </a:ext>
            </a:extLst>
          </p:cNvPr>
          <p:cNvSpPr>
            <a:spLocks noGrp="1"/>
          </p:cNvSpPr>
          <p:nvPr/>
        </p:nvSpPr>
        <p:spPr>
          <a:xfrm>
            <a:off x="4038600" y="2095500"/>
            <a:ext cx="619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75" b="1">
                <a:solidFill>
                  <a:srgbClr val="17362F"/>
                </a:solidFill>
              </a:defRPr>
            </a:pPr>
            <a:r>
              <a:rPr sz="2775" b="1">
                <a:solidFill>
                  <a:srgbClr val="17362F"/>
                </a:solidFill>
              </a:rPr>
              <a:t>台大感管 LINE 起來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E3E0115-213E-4C8E-B328-5833ACF8A61B}"/>
              </a:ext>
            </a:extLst>
          </p:cNvPr>
          <p:cNvSpPr>
            <a:spLocks noGrp="1"/>
          </p:cNvSpPr>
          <p:nvPr/>
        </p:nvSpPr>
        <p:spPr>
          <a:xfrm>
            <a:off x="4038600" y="29146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688078"/>
                </a:solidFill>
              </a:defRPr>
            </a:pPr>
            <a:r>
              <a:rPr sz="1350" b="1">
                <a:solidFill>
                  <a:srgbClr val="688078"/>
                </a:solidFill>
              </a:rPr>
              <a:t>官方專屬 ID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12C1FA5-71D5-4EB0-AB03-35D07FA55F31}"/>
              </a:ext>
            </a:extLst>
          </p:cNvPr>
          <p:cNvSpPr>
            <a:spLocks noGrp="1"/>
          </p:cNvSpPr>
          <p:nvPr/>
        </p:nvSpPr>
        <p:spPr>
          <a:xfrm>
            <a:off x="4038600" y="3257550"/>
            <a:ext cx="4095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750" b="1">
                <a:solidFill>
                  <a:srgbClr val="006B4F"/>
                </a:solidFill>
              </a:defRPr>
            </a:pPr>
            <a:r>
              <a:rPr sz="3750" b="1">
                <a:solidFill>
                  <a:srgbClr val="006B4F"/>
                </a:solidFill>
              </a:rPr>
              <a:t>@ntuhic</a:t>
            </a: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CE28B772-D2AA-48D2-B761-2A7994B78BE3}"/>
              </a:ext>
            </a:extLst>
          </p:cNvPr>
          <p:cNvSpPr>
            <a:spLocks noGrp="1"/>
          </p:cNvSpPr>
          <p:nvPr/>
        </p:nvSpPr>
        <p:spPr>
          <a:xfrm>
            <a:off x="4038600" y="4362450"/>
            <a:ext cx="1428750" cy="457200"/>
          </a:xfrm>
          <a:prstGeom prst="roundRect">
            <a:avLst>
              <a:gd name="adj" fmla="val 50000"/>
            </a:avLst>
          </a:prstGeom>
          <a:solidFill>
            <a:srgbClr val="16233F"/>
          </a:solidFill>
          <a:ln w="0">
            <a:solidFill>
              <a:srgbClr val="16233F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DF50F7F-9225-410A-8F8E-34512A0E0174}"/>
              </a:ext>
            </a:extLst>
          </p:cNvPr>
          <p:cNvSpPr>
            <a:spLocks noGrp="1"/>
          </p:cNvSpPr>
          <p:nvPr/>
        </p:nvSpPr>
        <p:spPr>
          <a:xfrm>
            <a:off x="4038600" y="436245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臨床照護</a:t>
            </a: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238C58DE-0B67-4F6E-917A-76481E98BBF3}"/>
              </a:ext>
            </a:extLst>
          </p:cNvPr>
          <p:cNvSpPr>
            <a:spLocks noGrp="1"/>
          </p:cNvSpPr>
          <p:nvPr/>
        </p:nvSpPr>
        <p:spPr>
          <a:xfrm>
            <a:off x="5638800" y="4362450"/>
            <a:ext cx="1428750" cy="457200"/>
          </a:xfrm>
          <a:prstGeom prst="roundRect">
            <a:avLst>
              <a:gd name="adj" fmla="val 50000"/>
            </a:avLst>
          </a:prstGeom>
          <a:solidFill>
            <a:srgbClr val="006B4F"/>
          </a:solidFill>
          <a:ln w="0">
            <a:solidFill>
              <a:srgbClr val="006B4F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0A727BE-C0E7-4304-B9A4-DA4368BDE1FD}"/>
              </a:ext>
            </a:extLst>
          </p:cNvPr>
          <p:cNvSpPr>
            <a:spLocks noGrp="1"/>
          </p:cNvSpPr>
          <p:nvPr/>
        </p:nvSpPr>
        <p:spPr>
          <a:xfrm>
            <a:off x="5638800" y="436245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評鑑查核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46397B7-EE72-4AC3-B082-DBD7729B9344}"/>
              </a:ext>
            </a:extLst>
          </p:cNvPr>
          <p:cNvSpPr>
            <a:spLocks noGrp="1"/>
          </p:cNvSpPr>
          <p:nvPr/>
        </p:nvSpPr>
        <p:spPr>
          <a:xfrm>
            <a:off x="4038600" y="5010150"/>
            <a:ext cx="619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526C64"/>
                </a:solidFill>
              </a:defRPr>
            </a:pPr>
            <a:r>
              <a:rPr sz="1650" b="0">
                <a:solidFill>
                  <a:srgbClr val="526C64"/>
                </a:solidFill>
              </a:rPr>
              <a:t>不需背關鍵字，直接描述你遇到的問題。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515C46-DA24-4E10-8AD9-C53578B72E73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6C827B"/>
                </a:solidFill>
              </a:defRPr>
            </a:pPr>
            <a:r>
              <a:rPr sz="1050" b="0">
                <a:solidFill>
                  <a:srgbClr val="6C827B"/>
                </a:solidFill>
              </a:rPr>
              <a:t>台大醫院感染管制中心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55CBE10-04E9-43B0-AFF1-3FF2B1051DC4}"/>
              </a:ext>
            </a:extLst>
          </p:cNvPr>
          <p:cNvSpPr>
            <a:spLocks noGrp="1"/>
          </p:cNvSpPr>
          <p:nvPr/>
        </p:nvSpPr>
        <p:spPr>
          <a:xfrm>
            <a:off x="6572250" y="6419850"/>
            <a:ext cx="493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6C827B"/>
                </a:solidFill>
              </a:defRPr>
            </a:pPr>
            <a:r>
              <a:rPr sz="1050" b="0">
                <a:solidFill>
                  <a:srgbClr val="6C827B"/>
                </a:solidFill>
              </a:rPr>
              <a:t>請勿輸入病人姓名、病歷號、床號等個資</a:t>
            </a:r>
          </a:p>
        </p:txBody>
      </p:sp>
      <p:pic>
        <p:nvPicPr>
          <p:cNvPr id="15" name="narration-0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791200" y="31242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254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9000"/>
    </mc:Choice>
    <mc:Fallback>
      <p:transition spd="slow" advClick="0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776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69DDFAE5-C676-44CA-812E-5D434A167CF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006B4F"/>
                </a:solidFill>
              </a:defRPr>
            </a:pPr>
            <a:r>
              <a:rPr sz="1275" b="1">
                <a:solidFill>
                  <a:srgbClr val="006B4F"/>
                </a:solidFill>
              </a:rPr>
              <a:t>真實工作情境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2405EFC-0073-44B2-8949-091344655C9D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000" b="1">
                <a:solidFill>
                  <a:srgbClr val="17362F"/>
                </a:solidFill>
              </a:defRPr>
            </a:pPr>
            <a:r>
              <a:rPr sz="3000" b="1">
                <a:solidFill>
                  <a:srgbClr val="17362F"/>
                </a:solidFill>
              </a:rPr>
              <a:t>你平常怎麼問，就怎麼輸入</a:t>
            </a: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A997DBE0-6102-4E69-BF1D-0AF65BDAB941}"/>
              </a:ext>
            </a:extLst>
          </p:cNvPr>
          <p:cNvSpPr>
            <a:spLocks noGrp="1"/>
          </p:cNvSpPr>
          <p:nvPr/>
        </p:nvSpPr>
        <p:spPr>
          <a:xfrm>
            <a:off x="857250" y="1695450"/>
            <a:ext cx="104775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6E8D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圓角矩形 3">
            <a:extLst>
              <a:ext uri="{FF2B5EF4-FFF2-40B4-BE49-F238E27FC236}">
                <a16:creationId xmlns:a16="http://schemas.microsoft.com/office/drawing/2014/main" id="{BF32CF03-AA61-48EF-942D-DA368ABD0BB6}"/>
              </a:ext>
            </a:extLst>
          </p:cNvPr>
          <p:cNvSpPr>
            <a:spLocks noGrp="1"/>
          </p:cNvSpPr>
          <p:nvPr/>
        </p:nvSpPr>
        <p:spPr>
          <a:xfrm>
            <a:off x="1123950" y="2000250"/>
            <a:ext cx="647700" cy="457200"/>
          </a:xfrm>
          <a:prstGeom prst="roundRect">
            <a:avLst>
              <a:gd name="adj" fmla="val 50000"/>
            </a:avLst>
          </a:prstGeom>
          <a:solidFill>
            <a:srgbClr val="006B4F"/>
          </a:solidFill>
          <a:ln w="0">
            <a:solidFill>
              <a:srgbClr val="006B4F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C8A9486-C224-45A9-9DA5-E006F8D7BBB2}"/>
              </a:ext>
            </a:extLst>
          </p:cNvPr>
          <p:cNvSpPr>
            <a:spLocks noGrp="1"/>
          </p:cNvSpPr>
          <p:nvPr/>
        </p:nvSpPr>
        <p:spPr>
          <a:xfrm>
            <a:off x="1123950" y="2000250"/>
            <a:ext cx="647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7FB26B-01B8-44EF-B9D5-C8B64C1C15BD}"/>
              </a:ext>
            </a:extLst>
          </p:cNvPr>
          <p:cNvSpPr>
            <a:spLocks noGrp="1"/>
          </p:cNvSpPr>
          <p:nvPr/>
        </p:nvSpPr>
        <p:spPr>
          <a:xfrm>
            <a:off x="2000250" y="1828800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17362F"/>
                </a:solidFill>
              </a:defRPr>
            </a:pPr>
            <a:r>
              <a:rPr sz="2100" b="1">
                <a:solidFill>
                  <a:srgbClr val="17362F"/>
                </a:solidFill>
              </a:rPr>
              <a:t>流感解隔標準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2531B61-9CF7-439D-818E-7E0235068DBE}"/>
              </a:ext>
            </a:extLst>
          </p:cNvPr>
          <p:cNvSpPr>
            <a:spLocks noGrp="1"/>
          </p:cNvSpPr>
          <p:nvPr/>
        </p:nvSpPr>
        <p:spPr>
          <a:xfrm>
            <a:off x="6819900" y="1828800"/>
            <a:ext cx="4095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587169"/>
                </a:solidFill>
              </a:defRPr>
            </a:pPr>
            <a:r>
              <a:rPr sz="1575" b="0">
                <a:solidFill>
                  <a:srgbClr val="587169"/>
                </a:solidFill>
              </a:rPr>
              <a:t>掌握解隔條件與取消隔離醫囑</a:t>
            </a: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0F307E2E-2D02-48E3-A672-E6B798A600AF}"/>
              </a:ext>
            </a:extLst>
          </p:cNvPr>
          <p:cNvSpPr>
            <a:spLocks noGrp="1"/>
          </p:cNvSpPr>
          <p:nvPr/>
        </p:nvSpPr>
        <p:spPr>
          <a:xfrm>
            <a:off x="857250" y="3048000"/>
            <a:ext cx="104775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6E8D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9752CE8F-05F8-4B48-92F6-878F11E9641A}"/>
              </a:ext>
            </a:extLst>
          </p:cNvPr>
          <p:cNvSpPr>
            <a:spLocks noGrp="1"/>
          </p:cNvSpPr>
          <p:nvPr/>
        </p:nvSpPr>
        <p:spPr>
          <a:xfrm>
            <a:off x="1123950" y="3352800"/>
            <a:ext cx="647700" cy="457200"/>
          </a:xfrm>
          <a:prstGeom prst="roundRect">
            <a:avLst>
              <a:gd name="adj" fmla="val 50000"/>
            </a:avLst>
          </a:prstGeom>
          <a:solidFill>
            <a:srgbClr val="006B4F"/>
          </a:solidFill>
          <a:ln w="0">
            <a:solidFill>
              <a:srgbClr val="006B4F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2B1E851-EB39-48E1-B2EC-030E8BBAFBF5}"/>
              </a:ext>
            </a:extLst>
          </p:cNvPr>
          <p:cNvSpPr>
            <a:spLocks noGrp="1"/>
          </p:cNvSpPr>
          <p:nvPr/>
        </p:nvSpPr>
        <p:spPr>
          <a:xfrm>
            <a:off x="1123950" y="3352800"/>
            <a:ext cx="647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問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7CB1385-5707-49AE-B8A7-BE64EEBE5CC8}"/>
              </a:ext>
            </a:extLst>
          </p:cNvPr>
          <p:cNvSpPr>
            <a:spLocks noGrp="1"/>
          </p:cNvSpPr>
          <p:nvPr/>
        </p:nvSpPr>
        <p:spPr>
          <a:xfrm>
            <a:off x="2000250" y="3181350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17362F"/>
                </a:solidFill>
              </a:defRPr>
            </a:pPr>
            <a:r>
              <a:rPr sz="2100" b="1">
                <a:solidFill>
                  <a:srgbClr val="17362F"/>
                </a:solidFill>
              </a:rPr>
              <a:t>透析室消毒濃度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200377D-DECD-444E-A85C-53AD6D2DC98C}"/>
              </a:ext>
            </a:extLst>
          </p:cNvPr>
          <p:cNvSpPr>
            <a:spLocks noGrp="1"/>
          </p:cNvSpPr>
          <p:nvPr/>
        </p:nvSpPr>
        <p:spPr>
          <a:xfrm>
            <a:off x="6819900" y="3181350"/>
            <a:ext cx="4095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587169"/>
                </a:solidFill>
              </a:defRPr>
            </a:pPr>
            <a:r>
              <a:rPr sz="1575" b="0">
                <a:solidFill>
                  <a:srgbClr val="587169"/>
                </a:solidFill>
              </a:rPr>
              <a:t>依情境整理濃度與污染處理</a:t>
            </a: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43D60E8E-BE02-4BDE-A85E-FBCB1171E78E}"/>
              </a:ext>
            </a:extLst>
          </p:cNvPr>
          <p:cNvSpPr>
            <a:spLocks noGrp="1"/>
          </p:cNvSpPr>
          <p:nvPr/>
        </p:nvSpPr>
        <p:spPr>
          <a:xfrm>
            <a:off x="857250" y="4400550"/>
            <a:ext cx="104775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6E8D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FDED3EC8-4CDF-4CD2-BD18-04764A8F495B}"/>
              </a:ext>
            </a:extLst>
          </p:cNvPr>
          <p:cNvSpPr>
            <a:spLocks noGrp="1"/>
          </p:cNvSpPr>
          <p:nvPr/>
        </p:nvSpPr>
        <p:spPr>
          <a:xfrm>
            <a:off x="1123950" y="4705350"/>
            <a:ext cx="647700" cy="457200"/>
          </a:xfrm>
          <a:prstGeom prst="roundRect">
            <a:avLst>
              <a:gd name="adj" fmla="val 50000"/>
            </a:avLst>
          </a:prstGeom>
          <a:solidFill>
            <a:srgbClr val="F49B32"/>
          </a:solidFill>
          <a:ln w="0">
            <a:solidFill>
              <a:srgbClr val="F49B32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E38966F-A26B-4136-ABCE-236226752DF0}"/>
              </a:ext>
            </a:extLst>
          </p:cNvPr>
          <p:cNvSpPr>
            <a:spLocks noGrp="1"/>
          </p:cNvSpPr>
          <p:nvPr/>
        </p:nvSpPr>
        <p:spPr>
          <a:xfrm>
            <a:off x="1123950" y="4705350"/>
            <a:ext cx="647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問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56ABA9A-A5C2-4A06-92D0-98B606754EC0}"/>
              </a:ext>
            </a:extLst>
          </p:cNvPr>
          <p:cNvSpPr>
            <a:spLocks noGrp="1"/>
          </p:cNvSpPr>
          <p:nvPr/>
        </p:nvSpPr>
        <p:spPr>
          <a:xfrm>
            <a:off x="2000250" y="4533900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17362F"/>
                </a:solidFill>
              </a:defRPr>
            </a:pPr>
            <a:r>
              <a:rPr sz="2100" b="1">
                <a:solidFill>
                  <a:srgbClr val="17362F"/>
                </a:solidFill>
              </a:rPr>
              <a:t>CJD 院內系統勾稽怎麼查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E105305-DC64-48EA-82E9-F6208EF07064}"/>
              </a:ext>
            </a:extLst>
          </p:cNvPr>
          <p:cNvSpPr>
            <a:spLocks noGrp="1"/>
          </p:cNvSpPr>
          <p:nvPr/>
        </p:nvSpPr>
        <p:spPr>
          <a:xfrm>
            <a:off x="6819900" y="4533900"/>
            <a:ext cx="4095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587169"/>
                </a:solidFill>
              </a:defRPr>
            </a:pPr>
            <a:r>
              <a:rPr sz="1575" b="0">
                <a:solidFill>
                  <a:srgbClr val="587169"/>
                </a:solidFill>
              </a:rPr>
              <a:t>找到查詢入口與執行紀錄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17A2802-56F2-4739-8F3E-40841536E46A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6C827B"/>
                </a:solidFill>
              </a:defRPr>
            </a:pPr>
            <a:r>
              <a:rPr sz="1050" b="0">
                <a:solidFill>
                  <a:srgbClr val="6C827B"/>
                </a:solidFill>
              </a:rPr>
              <a:t>台大醫院感染管制中心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DD41D75-72D9-46FD-BB24-615A1CF075FD}"/>
              </a:ext>
            </a:extLst>
          </p:cNvPr>
          <p:cNvSpPr>
            <a:spLocks noGrp="1"/>
          </p:cNvSpPr>
          <p:nvPr/>
        </p:nvSpPr>
        <p:spPr>
          <a:xfrm>
            <a:off x="6572250" y="6419850"/>
            <a:ext cx="493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6C827B"/>
                </a:solidFill>
              </a:defRPr>
            </a:pPr>
            <a:r>
              <a:rPr sz="1050" b="0">
                <a:solidFill>
                  <a:srgbClr val="6C827B"/>
                </a:solidFill>
              </a:rPr>
              <a:t>請勿輸入病人姓名、病歷號、床號等個資</a:t>
            </a:r>
          </a:p>
        </p:txBody>
      </p:sp>
      <p:pic>
        <p:nvPicPr>
          <p:cNvPr id="21" name="narration-0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791200" y="31242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8739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8000"/>
    </mc:Choice>
    <mc:Fallback>
      <p:transition spd="slow" advClick="0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40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BCFFB0BE-05E2-454A-BB7B-CF4AE611E96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006B4F"/>
                </a:solidFill>
              </a:defRPr>
            </a:pPr>
            <a:r>
              <a:rPr sz="1275" b="1">
                <a:solidFill>
                  <a:srgbClr val="006B4F"/>
                </a:solidFill>
              </a:rPr>
              <a:t>依工作目的切換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EDE63B6-EA62-440B-90EB-F0F5840EEB62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000" b="1">
                <a:solidFill>
                  <a:srgbClr val="17362F"/>
                </a:solidFill>
              </a:defRPr>
            </a:pPr>
            <a:r>
              <a:rPr sz="3000" b="1">
                <a:solidFill>
                  <a:srgbClr val="17362F"/>
                </a:solidFill>
              </a:rPr>
              <a:t>同一個主題，可以換一種回答方向</a:t>
            </a: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27747909-53B9-4465-B377-DF7274E0AFAC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5124450" cy="3714750"/>
          </a:xfrm>
          <a:prstGeom prst="roundRect">
            <a:avLst>
              <a:gd name="adj" fmla="val 4103"/>
            </a:avLst>
          </a:prstGeom>
          <a:solidFill>
            <a:srgbClr val="F3F7FF"/>
          </a:solidFill>
          <a:ln w="9525">
            <a:solidFill>
              <a:srgbClr val="D9E3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圓角矩形 3">
            <a:extLst>
              <a:ext uri="{FF2B5EF4-FFF2-40B4-BE49-F238E27FC236}">
                <a16:creationId xmlns:a16="http://schemas.microsoft.com/office/drawing/2014/main" id="{D251032B-C327-453A-B670-7ED48EBE2C1F}"/>
              </a:ext>
            </a:extLst>
          </p:cNvPr>
          <p:cNvSpPr>
            <a:spLocks noGrp="1"/>
          </p:cNvSpPr>
          <p:nvPr/>
        </p:nvSpPr>
        <p:spPr>
          <a:xfrm>
            <a:off x="1028700" y="2038350"/>
            <a:ext cx="1619250" cy="457200"/>
          </a:xfrm>
          <a:prstGeom prst="roundRect">
            <a:avLst>
              <a:gd name="adj" fmla="val 50000"/>
            </a:avLst>
          </a:prstGeom>
          <a:solidFill>
            <a:srgbClr val="16233F"/>
          </a:solidFill>
          <a:ln w="0">
            <a:solidFill>
              <a:srgbClr val="16233F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D9632EA-3AF8-48A2-BFA7-DDC2AB4F0BB7}"/>
              </a:ext>
            </a:extLst>
          </p:cNvPr>
          <p:cNvSpPr>
            <a:spLocks noGrp="1"/>
          </p:cNvSpPr>
          <p:nvPr/>
        </p:nvSpPr>
        <p:spPr>
          <a:xfrm>
            <a:off x="1028700" y="2038350"/>
            <a:ext cx="1619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臨床照護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F6DC22-3AB5-43D8-A7D6-3B58D351B5E1}"/>
              </a:ext>
            </a:extLst>
          </p:cNvPr>
          <p:cNvSpPr>
            <a:spLocks noGrp="1"/>
          </p:cNvSpPr>
          <p:nvPr/>
        </p:nvSpPr>
        <p:spPr>
          <a:xfrm>
            <a:off x="1028700" y="2762250"/>
            <a:ext cx="4095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16233F"/>
                </a:solidFill>
              </a:defRPr>
            </a:pPr>
            <a:r>
              <a:rPr sz="2550" b="1">
                <a:solidFill>
                  <a:srgbClr val="16233F"/>
                </a:solidFill>
              </a:rPr>
              <a:t>今天要怎麼做？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09B523-EB72-4116-99B6-382215863839}"/>
              </a:ext>
            </a:extLst>
          </p:cNvPr>
          <p:cNvSpPr>
            <a:spLocks noGrp="1"/>
          </p:cNvSpPr>
          <p:nvPr/>
        </p:nvSpPr>
        <p:spPr>
          <a:xfrm>
            <a:off x="1028700" y="3486150"/>
            <a:ext cx="3905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0">
                <a:solidFill>
                  <a:srgbClr val="405373"/>
                </a:solidFill>
              </a:defRPr>
            </a:pPr>
            <a:r>
              <a:rPr sz="1875" b="0">
                <a:solidFill>
                  <a:srgbClr val="405373"/>
                </a:solidFill>
              </a:rPr>
              <a:t>• 隔離與病人安置</a:t>
            </a:r>
          </a:p>
          <a:p>
            <a:pPr algn="l">
              <a:defRPr sz="1875" b="0">
                <a:solidFill>
                  <a:srgbClr val="405373"/>
                </a:solidFill>
              </a:defRPr>
            </a:pPr>
            <a:r>
              <a:rPr sz="1875" b="0">
                <a:solidFill>
                  <a:srgbClr val="405373"/>
                </a:solidFill>
              </a:rPr>
              <a:t>• 採檢送驗與 PPE</a:t>
            </a:r>
          </a:p>
          <a:p>
            <a:pPr algn="l">
              <a:defRPr sz="1875" b="0">
                <a:solidFill>
                  <a:srgbClr val="405373"/>
                </a:solidFill>
              </a:defRPr>
            </a:pPr>
            <a:r>
              <a:rPr sz="1875" b="0">
                <a:solidFill>
                  <a:srgbClr val="405373"/>
                </a:solidFill>
              </a:rPr>
              <a:t>• 清消與解除隔離</a:t>
            </a: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12D573BD-6AA5-4824-8DA7-36AFB27E190A}"/>
              </a:ext>
            </a:extLst>
          </p:cNvPr>
          <p:cNvSpPr>
            <a:spLocks noGrp="1"/>
          </p:cNvSpPr>
          <p:nvPr/>
        </p:nvSpPr>
        <p:spPr>
          <a:xfrm>
            <a:off x="6381750" y="1733550"/>
            <a:ext cx="5124450" cy="3714750"/>
          </a:xfrm>
          <a:prstGeom prst="roundRect">
            <a:avLst>
              <a:gd name="adj" fmla="val 4103"/>
            </a:avLst>
          </a:prstGeom>
          <a:solidFill>
            <a:srgbClr val="F2F8F4"/>
          </a:solidFill>
          <a:ln w="9525">
            <a:solidFill>
              <a:srgbClr val="D6E8D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CA6D262E-2AAB-4989-A744-06580A91B093}"/>
              </a:ext>
            </a:extLst>
          </p:cNvPr>
          <p:cNvSpPr>
            <a:spLocks noGrp="1"/>
          </p:cNvSpPr>
          <p:nvPr/>
        </p:nvSpPr>
        <p:spPr>
          <a:xfrm>
            <a:off x="6724650" y="2038350"/>
            <a:ext cx="1619250" cy="457200"/>
          </a:xfrm>
          <a:prstGeom prst="roundRect">
            <a:avLst>
              <a:gd name="adj" fmla="val 50000"/>
            </a:avLst>
          </a:prstGeom>
          <a:solidFill>
            <a:srgbClr val="006B4F"/>
          </a:solidFill>
          <a:ln w="0">
            <a:solidFill>
              <a:srgbClr val="006B4F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1F830B8-A103-4793-8E09-DF809D526957}"/>
              </a:ext>
            </a:extLst>
          </p:cNvPr>
          <p:cNvSpPr>
            <a:spLocks noGrp="1"/>
          </p:cNvSpPr>
          <p:nvPr/>
        </p:nvSpPr>
        <p:spPr>
          <a:xfrm>
            <a:off x="6724650" y="2038350"/>
            <a:ext cx="1619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評鑑查核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A76F744-A732-4EE8-8979-A95C0DC0257A}"/>
              </a:ext>
            </a:extLst>
          </p:cNvPr>
          <p:cNvSpPr>
            <a:spLocks noGrp="1"/>
          </p:cNvSpPr>
          <p:nvPr/>
        </p:nvSpPr>
        <p:spPr>
          <a:xfrm>
            <a:off x="6724650" y="2762250"/>
            <a:ext cx="4095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006B4F"/>
                </a:solidFill>
              </a:defRPr>
            </a:pPr>
            <a:r>
              <a:rPr sz="2550" b="1">
                <a:solidFill>
                  <a:srgbClr val="006B4F"/>
                </a:solidFill>
              </a:rPr>
              <a:t>委員可能問什麼？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9985685-B00A-4BD0-8FCE-ACB18192D0B3}"/>
              </a:ext>
            </a:extLst>
          </p:cNvPr>
          <p:cNvSpPr>
            <a:spLocks noGrp="1"/>
          </p:cNvSpPr>
          <p:nvPr/>
        </p:nvSpPr>
        <p:spPr>
          <a:xfrm>
            <a:off x="6724650" y="3486150"/>
            <a:ext cx="3905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0">
                <a:solidFill>
                  <a:srgbClr val="45695D"/>
                </a:solidFill>
              </a:defRPr>
            </a:pPr>
            <a:r>
              <a:rPr sz="1875" b="0">
                <a:solidFill>
                  <a:srgbClr val="45695D"/>
                </a:solidFill>
              </a:rPr>
              <a:t>• 對應查核面向</a:t>
            </a:r>
          </a:p>
          <a:p>
            <a:pPr algn="l">
              <a:defRPr sz="1875" b="0">
                <a:solidFill>
                  <a:srgbClr val="45695D"/>
                </a:solidFill>
              </a:defRPr>
            </a:pPr>
            <a:r>
              <a:rPr sz="1875" b="0">
                <a:solidFill>
                  <a:srgbClr val="45695D"/>
                </a:solidFill>
              </a:rPr>
              <a:t>• 可出示的執行紀錄</a:t>
            </a:r>
          </a:p>
          <a:p>
            <a:pPr algn="l">
              <a:defRPr sz="1875" b="0">
                <a:solidFill>
                  <a:srgbClr val="45695D"/>
                </a:solidFill>
              </a:defRPr>
            </a:pPr>
            <a:r>
              <a:rPr sz="1875" b="0">
                <a:solidFill>
                  <a:srgbClr val="45695D"/>
                </a:solidFill>
              </a:rPr>
              <a:t>• KM 核定文件與勾稽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6262FB6-6C7C-4C97-BE13-1AF394A054B7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6C827B"/>
                </a:solidFill>
              </a:defRPr>
            </a:pPr>
            <a:r>
              <a:rPr sz="1050" b="0">
                <a:solidFill>
                  <a:srgbClr val="6C827B"/>
                </a:solidFill>
              </a:rPr>
              <a:t>台大醫院感染管制中心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234379F-C356-4115-B903-B2470E7DB034}"/>
              </a:ext>
            </a:extLst>
          </p:cNvPr>
          <p:cNvSpPr>
            <a:spLocks noGrp="1"/>
          </p:cNvSpPr>
          <p:nvPr/>
        </p:nvSpPr>
        <p:spPr>
          <a:xfrm>
            <a:off x="6572250" y="6419850"/>
            <a:ext cx="493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6C827B"/>
                </a:solidFill>
              </a:defRPr>
            </a:pPr>
            <a:r>
              <a:rPr sz="1050" b="0">
                <a:solidFill>
                  <a:srgbClr val="6C827B"/>
                </a:solidFill>
              </a:rPr>
              <a:t>請勿輸入病人姓名、病歷號、床號等個資</a:t>
            </a:r>
          </a:p>
        </p:txBody>
      </p:sp>
      <p:pic>
        <p:nvPicPr>
          <p:cNvPr id="16" name="narration-0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791200" y="31242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8750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9000"/>
    </mc:Choice>
    <mc:Fallback>
      <p:transition spd="slow" advClick="0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630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C498B2EA-9E71-4480-8220-A99BAFF60C7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006B4F"/>
                </a:solidFill>
              </a:defRPr>
            </a:pPr>
            <a:r>
              <a:rPr sz="1275" b="1">
                <a:solidFill>
                  <a:srgbClr val="006B4F"/>
                </a:solidFill>
              </a:rPr>
              <a:t>完成體驗，就有抽獎資格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D3CA88F-1A47-451C-A49D-482D7FA7C361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000" b="1">
                <a:solidFill>
                  <a:srgbClr val="17362F"/>
                </a:solidFill>
              </a:defRPr>
            </a:pPr>
            <a:r>
              <a:rPr sz="3000" b="1">
                <a:solidFill>
                  <a:srgbClr val="17362F"/>
                </a:solidFill>
              </a:rPr>
              <a:t>三個步驟，一次完成</a:t>
            </a: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AFEE122E-6EEC-4350-81AF-6A01F79E94ED}"/>
              </a:ext>
            </a:extLst>
          </p:cNvPr>
          <p:cNvSpPr>
            <a:spLocks noGrp="1"/>
          </p:cNvSpPr>
          <p:nvPr/>
        </p:nvSpPr>
        <p:spPr>
          <a:xfrm>
            <a:off x="704850" y="1866900"/>
            <a:ext cx="3333750" cy="295275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6E8D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932FE2C5-99C8-4131-BB03-7A1CCC06EA77}"/>
              </a:ext>
            </a:extLst>
          </p:cNvPr>
          <p:cNvSpPr>
            <a:spLocks noGrp="1"/>
          </p:cNvSpPr>
          <p:nvPr/>
        </p:nvSpPr>
        <p:spPr>
          <a:xfrm>
            <a:off x="1809750" y="2171700"/>
            <a:ext cx="1123950" cy="1123950"/>
          </a:xfrm>
          <a:prstGeom prst="ellipse">
            <a:avLst/>
          </a:prstGeom>
          <a:solidFill>
            <a:srgbClr val="16233F"/>
          </a:solidFill>
          <a:ln w="0">
            <a:solidFill>
              <a:srgbClr val="16233F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2D156CB-7783-4F14-B284-750DFFB68A35}"/>
              </a:ext>
            </a:extLst>
          </p:cNvPr>
          <p:cNvSpPr>
            <a:spLocks noGrp="1"/>
          </p:cNvSpPr>
          <p:nvPr/>
        </p:nvSpPr>
        <p:spPr>
          <a:xfrm>
            <a:off x="1809750" y="2171700"/>
            <a:ext cx="11239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537C62-F7D8-4593-9FD2-11FB15A9683F}"/>
              </a:ext>
            </a:extLst>
          </p:cNvPr>
          <p:cNvSpPr>
            <a:spLocks noGrp="1"/>
          </p:cNvSpPr>
          <p:nvPr/>
        </p:nvSpPr>
        <p:spPr>
          <a:xfrm>
            <a:off x="1009650" y="3581400"/>
            <a:ext cx="2724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17362F"/>
                </a:solidFill>
              </a:defRPr>
            </a:pPr>
            <a:r>
              <a:rPr sz="2025" b="1">
                <a:solidFill>
                  <a:srgbClr val="17362F"/>
                </a:solidFill>
              </a:rPr>
              <a:t>加入並開始提問</a:t>
            </a: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6E0480F0-3D4F-4D28-88DE-B831397D41BA}"/>
              </a:ext>
            </a:extLst>
          </p:cNvPr>
          <p:cNvSpPr>
            <a:spLocks noGrp="1"/>
          </p:cNvSpPr>
          <p:nvPr/>
        </p:nvSpPr>
        <p:spPr>
          <a:xfrm>
            <a:off x="4438650" y="1866900"/>
            <a:ext cx="3333750" cy="295275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6E8D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8055BE9E-40BA-49D4-B606-4773648814DA}"/>
              </a:ext>
            </a:extLst>
          </p:cNvPr>
          <p:cNvSpPr>
            <a:spLocks noGrp="1"/>
          </p:cNvSpPr>
          <p:nvPr/>
        </p:nvSpPr>
        <p:spPr>
          <a:xfrm>
            <a:off x="5543550" y="2171700"/>
            <a:ext cx="1123950" cy="1123950"/>
          </a:xfrm>
          <a:prstGeom prst="ellipse">
            <a:avLst/>
          </a:prstGeom>
          <a:solidFill>
            <a:srgbClr val="16233F"/>
          </a:solidFill>
          <a:ln w="0">
            <a:solidFill>
              <a:srgbClr val="16233F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921DBE-CC2C-439A-AE15-855538B7E064}"/>
              </a:ext>
            </a:extLst>
          </p:cNvPr>
          <p:cNvSpPr>
            <a:spLocks noGrp="1"/>
          </p:cNvSpPr>
          <p:nvPr/>
        </p:nvSpPr>
        <p:spPr>
          <a:xfrm>
            <a:off x="5543550" y="2171700"/>
            <a:ext cx="11239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9EDE93F-E0FC-418B-8D36-89AEAF1A5E0C}"/>
              </a:ext>
            </a:extLst>
          </p:cNvPr>
          <p:cNvSpPr>
            <a:spLocks noGrp="1"/>
          </p:cNvSpPr>
          <p:nvPr/>
        </p:nvSpPr>
        <p:spPr>
          <a:xfrm>
            <a:off x="4743450" y="3581400"/>
            <a:ext cx="2724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17362F"/>
                </a:solidFill>
              </a:defRPr>
            </a:pPr>
            <a:r>
              <a:rPr sz="2025" b="1">
                <a:solidFill>
                  <a:srgbClr val="17362F"/>
                </a:solidFill>
              </a:rPr>
              <a:t>完成 5 次有效問答</a:t>
            </a: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93C3B145-D9E2-4E4D-B9F4-AA95DD5A4438}"/>
              </a:ext>
            </a:extLst>
          </p:cNvPr>
          <p:cNvSpPr>
            <a:spLocks noGrp="1"/>
          </p:cNvSpPr>
          <p:nvPr/>
        </p:nvSpPr>
        <p:spPr>
          <a:xfrm>
            <a:off x="8172450" y="1866900"/>
            <a:ext cx="3333750" cy="295275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6E8D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50448B82-D262-4720-954E-94C035667C58}"/>
              </a:ext>
            </a:extLst>
          </p:cNvPr>
          <p:cNvSpPr>
            <a:spLocks noGrp="1"/>
          </p:cNvSpPr>
          <p:nvPr/>
        </p:nvSpPr>
        <p:spPr>
          <a:xfrm>
            <a:off x="9277350" y="2171700"/>
            <a:ext cx="1123950" cy="1123950"/>
          </a:xfrm>
          <a:prstGeom prst="ellipse">
            <a:avLst/>
          </a:prstGeom>
          <a:solidFill>
            <a:srgbClr val="006B4F"/>
          </a:solidFill>
          <a:ln w="0">
            <a:solidFill>
              <a:srgbClr val="006B4F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0CFDFED-D46A-4AFE-9E80-ECF7FC320C3F}"/>
              </a:ext>
            </a:extLst>
          </p:cNvPr>
          <p:cNvSpPr>
            <a:spLocks noGrp="1"/>
          </p:cNvSpPr>
          <p:nvPr/>
        </p:nvSpPr>
        <p:spPr>
          <a:xfrm>
            <a:off x="9277350" y="2171700"/>
            <a:ext cx="11239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545EDF6-4E88-4C40-B22F-11FFC52FCA24}"/>
              </a:ext>
            </a:extLst>
          </p:cNvPr>
          <p:cNvSpPr>
            <a:spLocks noGrp="1"/>
          </p:cNvSpPr>
          <p:nvPr/>
        </p:nvSpPr>
        <p:spPr>
          <a:xfrm>
            <a:off x="8477250" y="3581400"/>
            <a:ext cx="2724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17362F"/>
                </a:solidFill>
              </a:defRPr>
            </a:pPr>
            <a:r>
              <a:rPr sz="2025" b="1">
                <a:solidFill>
                  <a:srgbClr val="17362F"/>
                </a:solidFill>
              </a:rPr>
              <a:t>完成滿意度問卷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9081B61-4B3E-48DD-849F-01BBA466F8D5}"/>
              </a:ext>
            </a:extLst>
          </p:cNvPr>
          <p:cNvSpPr>
            <a:spLocks noGrp="1"/>
          </p:cNvSpPr>
          <p:nvPr/>
        </p:nvSpPr>
        <p:spPr>
          <a:xfrm>
            <a:off x="1714500" y="5143500"/>
            <a:ext cx="876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0">
                <a:solidFill>
                  <a:srgbClr val="526C64"/>
                </a:solidFill>
              </a:defRPr>
            </a:pPr>
            <a:r>
              <a:rPr sz="1650" b="0">
                <a:solidFill>
                  <a:srgbClr val="526C64"/>
                </a:solidFill>
              </a:rPr>
              <a:t>完成問卷即取得一次抽獎資格；每個 LINE 帳號限一次。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15DC80D-811F-4923-A3E2-329175ED1883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6C827B"/>
                </a:solidFill>
              </a:defRPr>
            </a:pPr>
            <a:r>
              <a:rPr sz="1050" b="0">
                <a:solidFill>
                  <a:srgbClr val="6C827B"/>
                </a:solidFill>
              </a:rPr>
              <a:t>台大醫院感染管制中心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5613287-09BF-4754-823F-55B765C0DA7D}"/>
              </a:ext>
            </a:extLst>
          </p:cNvPr>
          <p:cNvSpPr>
            <a:spLocks noGrp="1"/>
          </p:cNvSpPr>
          <p:nvPr/>
        </p:nvSpPr>
        <p:spPr>
          <a:xfrm>
            <a:off x="6572250" y="6419850"/>
            <a:ext cx="493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6C827B"/>
                </a:solidFill>
              </a:defRPr>
            </a:pPr>
            <a:r>
              <a:rPr sz="1050" b="0">
                <a:solidFill>
                  <a:srgbClr val="6C827B"/>
                </a:solidFill>
              </a:rPr>
              <a:t>請勿輸入病人姓名、病歷號、床號等個資</a:t>
            </a:r>
          </a:p>
        </p:txBody>
      </p:sp>
      <p:pic>
        <p:nvPicPr>
          <p:cNvPr id="19" name="narration-0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791200" y="31242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9653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8000"/>
    </mc:Choice>
    <mc:Fallback>
      <p:transition spd="slow" advClick="0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147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FAB8A69-9B03-4559-B225-22462A7611B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006B4F"/>
                </a:solidFill>
              </a:defRPr>
            </a:pPr>
            <a:r>
              <a:rPr sz="1275" b="1">
                <a:solidFill>
                  <a:srgbClr val="006B4F"/>
                </a:solidFill>
              </a:rPr>
              <a:t>一百份好禮即享券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B507B24-FB85-446E-B792-2CE459DB1734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000" b="1">
                <a:solidFill>
                  <a:srgbClr val="17362F"/>
                </a:solidFill>
              </a:defRPr>
            </a:pPr>
            <a:r>
              <a:rPr sz="3000" b="1">
                <a:solidFill>
                  <a:srgbClr val="17362F"/>
                </a:solidFill>
              </a:rPr>
              <a:t>完成體驗，還有機會把午餐帶走</a:t>
            </a: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193ABF3F-7B66-4AA4-BD91-6814E33853D2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10820400" cy="3810000"/>
          </a:xfrm>
          <a:prstGeom prst="roundRect">
            <a:avLst>
              <a:gd name="adj" fmla="val 4000"/>
            </a:avLst>
          </a:prstGeom>
          <a:solidFill>
            <a:srgbClr val="FFF8ED"/>
          </a:solidFill>
          <a:ln w="9525">
            <a:solidFill>
              <a:srgbClr val="F4DFC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15" name="圖片 14"/>
          <p:cNvPicPr>
            <a:picLocks noChangeAspect="1"/>
          </p:cNvPicPr>
          <p:nvPr/>
        </p:nvPicPr>
        <p:blipFill>
          <a:blip r:embed="rId5"/>
          <a:srcRect t="462" b="462"/>
          <a:stretch>
            <a:fillRect/>
          </a:stretch>
        </p:blipFill>
        <p:spPr>
          <a:xfrm>
            <a:off x="1066800" y="2152650"/>
            <a:ext cx="3905250" cy="2914650"/>
          </a:xfrm>
          <a:prstGeom prst="roundRect">
            <a:avLst>
              <a:gd name="adj" fmla="val 3922"/>
            </a:avLst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747DAD9-29D9-4015-B8E7-1BF5A1BCE58F}"/>
              </a:ext>
            </a:extLst>
          </p:cNvPr>
          <p:cNvSpPr>
            <a:spLocks noGrp="1"/>
          </p:cNvSpPr>
          <p:nvPr/>
        </p:nvSpPr>
        <p:spPr>
          <a:xfrm>
            <a:off x="5581650" y="21336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A64A22"/>
                </a:solidFill>
              </a:defRPr>
            </a:pPr>
            <a:r>
              <a:rPr sz="2850" b="1">
                <a:solidFill>
                  <a:srgbClr val="A64A22"/>
                </a:solidFill>
              </a:rPr>
              <a:t>摩斯漢堡 C153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357BDE-E6B4-49E1-9A0B-F0E3297918C8}"/>
              </a:ext>
            </a:extLst>
          </p:cNvPr>
          <p:cNvSpPr>
            <a:spLocks noGrp="1"/>
          </p:cNvSpPr>
          <p:nvPr/>
        </p:nvSpPr>
        <p:spPr>
          <a:xfrm>
            <a:off x="5581650" y="2781300"/>
            <a:ext cx="4953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17362F"/>
                </a:solidFill>
              </a:defRPr>
            </a:pPr>
            <a:r>
              <a:rPr sz="2025" b="1">
                <a:solidFill>
                  <a:srgbClr val="17362F"/>
                </a:solidFill>
              </a:rPr>
              <a:t>蜜汁烤雞堡</a:t>
            </a:r>
          </a:p>
          <a:p>
            <a:pPr algn="l">
              <a:defRPr sz="2025" b="1">
                <a:solidFill>
                  <a:srgbClr val="17362F"/>
                </a:solidFill>
              </a:defRPr>
            </a:pPr>
            <a:r>
              <a:rPr sz="2025" b="1">
                <a:solidFill>
                  <a:srgbClr val="17362F"/>
                </a:solidFill>
              </a:rPr>
              <a:t>＋ 方塊薯餅 3 個</a:t>
            </a:r>
          </a:p>
          <a:p>
            <a:pPr algn="l">
              <a:defRPr sz="2025" b="1">
                <a:solidFill>
                  <a:srgbClr val="17362F"/>
                </a:solidFill>
              </a:defRPr>
            </a:pPr>
            <a:r>
              <a:rPr sz="2025" b="1">
                <a:solidFill>
                  <a:srgbClr val="17362F"/>
                </a:solidFill>
              </a:rPr>
              <a:t>＋ 冰紅茶 L</a:t>
            </a: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B1286BF8-580B-448A-9404-9308FC8E5BE4}"/>
              </a:ext>
            </a:extLst>
          </p:cNvPr>
          <p:cNvSpPr>
            <a:spLocks noGrp="1"/>
          </p:cNvSpPr>
          <p:nvPr/>
        </p:nvSpPr>
        <p:spPr>
          <a:xfrm>
            <a:off x="5581650" y="4476750"/>
            <a:ext cx="1714500" cy="457200"/>
          </a:xfrm>
          <a:prstGeom prst="roundRect">
            <a:avLst>
              <a:gd name="adj" fmla="val 50000"/>
            </a:avLst>
          </a:prstGeom>
          <a:solidFill>
            <a:srgbClr val="F49B32"/>
          </a:solidFill>
          <a:ln w="0">
            <a:solidFill>
              <a:srgbClr val="F49B3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646A972-93B2-4692-93B4-B34D5CADAFEA}"/>
              </a:ext>
            </a:extLst>
          </p:cNvPr>
          <p:cNvSpPr>
            <a:spLocks noGrp="1"/>
          </p:cNvSpPr>
          <p:nvPr/>
        </p:nvSpPr>
        <p:spPr>
          <a:xfrm>
            <a:off x="5581650" y="4476750"/>
            <a:ext cx="171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共 100 份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C85B795-723B-4944-A421-F70C6CCF3558}"/>
              </a:ext>
            </a:extLst>
          </p:cNvPr>
          <p:cNvSpPr>
            <a:spLocks noGrp="1"/>
          </p:cNvSpPr>
          <p:nvPr/>
        </p:nvSpPr>
        <p:spPr>
          <a:xfrm>
            <a:off x="7486650" y="4476750"/>
            <a:ext cx="3143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6D645A"/>
                </a:solidFill>
              </a:defRPr>
            </a:pPr>
            <a:r>
              <a:rPr sz="1425" b="0">
                <a:solidFill>
                  <a:srgbClr val="6D645A"/>
                </a:solidFill>
              </a:rPr>
              <a:t>中獎後由官方帳號傳送至 LINE 對話。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F6FD697-87AA-47DC-BB07-1D89F22B49DD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6C827B"/>
                </a:solidFill>
              </a:defRPr>
            </a:pPr>
            <a:r>
              <a:rPr sz="1050" b="0">
                <a:solidFill>
                  <a:srgbClr val="6C827B"/>
                </a:solidFill>
              </a:rPr>
              <a:t>台大醫院感染管制中心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0BF06E0-FB85-48E4-9A0B-78C52803C963}"/>
              </a:ext>
            </a:extLst>
          </p:cNvPr>
          <p:cNvSpPr>
            <a:spLocks noGrp="1"/>
          </p:cNvSpPr>
          <p:nvPr/>
        </p:nvSpPr>
        <p:spPr>
          <a:xfrm>
            <a:off x="6572250" y="6419850"/>
            <a:ext cx="493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6C827B"/>
                </a:solidFill>
              </a:defRPr>
            </a:pPr>
            <a:r>
              <a:rPr sz="1050" b="0">
                <a:solidFill>
                  <a:srgbClr val="6C827B"/>
                </a:solidFill>
              </a:rPr>
              <a:t>請勿輸入病人姓名、病歷號、床號等個資</a:t>
            </a:r>
          </a:p>
        </p:txBody>
      </p:sp>
      <p:pic>
        <p:nvPicPr>
          <p:cNvPr id="12" name="narration-0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791200" y="31242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2322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8000"/>
    </mc:Choice>
    <mc:Fallback>
      <p:transition spd="slow" advClick="0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1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B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8F493B67-152C-409E-B0E0-7BA78BC408CB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B8E34A"/>
                </a:solidFill>
              </a:defRPr>
            </a:pPr>
            <a:r>
              <a:rPr sz="1500" b="1">
                <a:solidFill>
                  <a:srgbClr val="B8E34A"/>
                </a:solidFill>
              </a:rPr>
              <a:t>9 月 1 日起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3645C83-2CDB-480B-9A72-00DB99E4F6FE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676275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搜尋 @ntuhic</a:t>
            </a:r>
          </a:p>
          <a:p>
            <a:pPr algn="l"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和 Qbee 一起，感管 LINE 起來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EC58D4A-C62D-49E4-B951-DB73CDD04B0F}"/>
              </a:ext>
            </a:extLst>
          </p:cNvPr>
          <p:cNvSpPr>
            <a:spLocks noGrp="1"/>
          </p:cNvSpPr>
          <p:nvPr/>
        </p:nvSpPr>
        <p:spPr>
          <a:xfrm>
            <a:off x="685800" y="2914650"/>
            <a:ext cx="628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E9F7EF"/>
                </a:solidFill>
              </a:defRPr>
            </a:pPr>
            <a:r>
              <a:rPr sz="1875" b="1">
                <a:solidFill>
                  <a:srgbClr val="E9F7EF"/>
                </a:solidFill>
              </a:rPr>
              <a:t>前 3 天完成問卷，抽獎機會加碼 5 倍</a:t>
            </a:r>
          </a:p>
        </p:txBody>
      </p:sp>
      <p:sp>
        <p:nvSpPr>
          <p:cNvPr id="4" name="圓角矩形 3">
            <a:extLst>
              <a:ext uri="{FF2B5EF4-FFF2-40B4-BE49-F238E27FC236}">
                <a16:creationId xmlns:a16="http://schemas.microsoft.com/office/drawing/2014/main" id="{54F7B910-A498-48C9-AE0E-08EA4A563352}"/>
              </a:ext>
            </a:extLst>
          </p:cNvPr>
          <p:cNvSpPr>
            <a:spLocks noGrp="1"/>
          </p:cNvSpPr>
          <p:nvPr/>
        </p:nvSpPr>
        <p:spPr>
          <a:xfrm>
            <a:off x="8191500" y="876300"/>
            <a:ext cx="2667000" cy="33337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572500" y="1206564"/>
            <a:ext cx="1905000" cy="1892172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4FC99C6-51EA-448A-ABBB-61732F9F0BB9}"/>
              </a:ext>
            </a:extLst>
          </p:cNvPr>
          <p:cNvSpPr>
            <a:spLocks noGrp="1"/>
          </p:cNvSpPr>
          <p:nvPr/>
        </p:nvSpPr>
        <p:spPr>
          <a:xfrm>
            <a:off x="8572500" y="3314700"/>
            <a:ext cx="190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006B4F"/>
                </a:solidFill>
              </a:defRPr>
            </a:pPr>
            <a:r>
              <a:rPr sz="1875" b="1">
                <a:solidFill>
                  <a:srgbClr val="006B4F"/>
                </a:solidFill>
              </a:rPr>
              <a:t>掃碼加入</a:t>
            </a: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176BC09C-F309-4DC1-92B7-84A8A8BEAB62}"/>
              </a:ext>
            </a:extLst>
          </p:cNvPr>
          <p:cNvSpPr>
            <a:spLocks noGrp="1"/>
          </p:cNvSpPr>
          <p:nvPr/>
        </p:nvSpPr>
        <p:spPr>
          <a:xfrm>
            <a:off x="685800" y="3924300"/>
            <a:ext cx="1428750" cy="457200"/>
          </a:xfrm>
          <a:prstGeom prst="roundRect">
            <a:avLst>
              <a:gd name="adj" fmla="val 50000"/>
            </a:avLst>
          </a:prstGeom>
          <a:solidFill>
            <a:srgbClr val="16233F"/>
          </a:solidFill>
          <a:ln w="0">
            <a:solidFill>
              <a:srgbClr val="16233F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A5B4F6-2DF9-42FB-8692-A83F0C7F6106}"/>
              </a:ext>
            </a:extLst>
          </p:cNvPr>
          <p:cNvSpPr>
            <a:spLocks noGrp="1"/>
          </p:cNvSpPr>
          <p:nvPr/>
        </p:nvSpPr>
        <p:spPr>
          <a:xfrm>
            <a:off x="685800" y="39243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臨床照護</a:t>
            </a: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2001E42B-0F10-49B3-A50C-54C93A2699DB}"/>
              </a:ext>
            </a:extLst>
          </p:cNvPr>
          <p:cNvSpPr>
            <a:spLocks noGrp="1"/>
          </p:cNvSpPr>
          <p:nvPr/>
        </p:nvSpPr>
        <p:spPr>
          <a:xfrm>
            <a:off x="2266950" y="3924300"/>
            <a:ext cx="1428750" cy="457200"/>
          </a:xfrm>
          <a:prstGeom prst="roundRect">
            <a:avLst>
              <a:gd name="adj" fmla="val 50000"/>
            </a:avLst>
          </a:prstGeom>
          <a:solidFill>
            <a:srgbClr val="0C8A65"/>
          </a:solidFill>
          <a:ln w="0">
            <a:solidFill>
              <a:srgbClr val="0C8A65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C51E9B7-27F2-497C-A587-759248BE43BD}"/>
              </a:ext>
            </a:extLst>
          </p:cNvPr>
          <p:cNvSpPr>
            <a:spLocks noGrp="1"/>
          </p:cNvSpPr>
          <p:nvPr/>
        </p:nvSpPr>
        <p:spPr>
          <a:xfrm>
            <a:off x="2266950" y="39243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評鑑查核</a:t>
            </a: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9EEBF747-A44E-4286-A322-5A960E633AFA}"/>
              </a:ext>
            </a:extLst>
          </p:cNvPr>
          <p:cNvSpPr>
            <a:spLocks noGrp="1"/>
          </p:cNvSpPr>
          <p:nvPr/>
        </p:nvSpPr>
        <p:spPr>
          <a:xfrm>
            <a:off x="3848100" y="3924300"/>
            <a:ext cx="1809750" cy="457200"/>
          </a:xfrm>
          <a:prstGeom prst="roundRect">
            <a:avLst>
              <a:gd name="adj" fmla="val 50000"/>
            </a:avLst>
          </a:prstGeom>
          <a:solidFill>
            <a:srgbClr val="F49B32"/>
          </a:solidFill>
          <a:ln w="0">
            <a:solidFill>
              <a:srgbClr val="F49B32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B015E62-3010-483B-8234-856EA384018A}"/>
              </a:ext>
            </a:extLst>
          </p:cNvPr>
          <p:cNvSpPr>
            <a:spLocks noGrp="1"/>
          </p:cNvSpPr>
          <p:nvPr/>
        </p:nvSpPr>
        <p:spPr>
          <a:xfrm>
            <a:off x="3848100" y="3924300"/>
            <a:ext cx="180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滿意度抽獎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8BFAF32-A5AB-4765-B3B4-516C8A35C4E7}"/>
              </a:ext>
            </a:extLst>
          </p:cNvPr>
          <p:cNvSpPr>
            <a:spLocks noGrp="1"/>
          </p:cNvSpPr>
          <p:nvPr/>
        </p:nvSpPr>
        <p:spPr>
          <a:xfrm>
            <a:off x="685800" y="5848350"/>
            <a:ext cx="10172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D9EFE7"/>
                </a:solidFill>
              </a:defRPr>
            </a:pPr>
            <a:r>
              <a:rPr sz="1275" b="0">
                <a:solidFill>
                  <a:srgbClr val="D9EFE7"/>
                </a:solidFill>
              </a:rPr>
              <a:t>如與正式公告不一致，以正式公告為準。請勿輸入病人姓名、病歷號、床號等個資。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217EA32-FEEC-45EB-BABB-52598F746D22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BBDDD1"/>
                </a:solidFill>
              </a:defRPr>
            </a:pPr>
            <a:r>
              <a:rPr sz="1125" b="0">
                <a:solidFill>
                  <a:srgbClr val="BBDDD1"/>
                </a:solidFill>
              </a:rPr>
              <a:t>主辦單位｜台大醫院感染管制中心</a:t>
            </a:r>
          </a:p>
        </p:txBody>
      </p:sp>
      <p:pic>
        <p:nvPicPr>
          <p:cNvPr id="15" name="narration-07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791200" y="31242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7356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9000"/>
    </mc:Choice>
    <mc:Fallback>
      <p:transition spd="slow" advClick="0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388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</Words>
  <Application>Microsoft Office PowerPoint</Application>
  <DocSecurity>0</DocSecurity>
  <PresentationFormat>寬螢幕</PresentationFormat>
  <Paragraphs>75</Paragraphs>
  <Slides>7</Slides>
  <Notes>7</Notes>
  <HiddenSlides>0</HiddenSlides>
  <MMClips>7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9" baseType="lpstr"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林慧姫-總院-感染管制中心</cp:lastModifiedBy>
  <cp:revision>1</cp:revision>
  <dcterms:created xsi:type="dcterms:W3CDTF">2026-08-27T06:49:21Z</dcterms:created>
  <dcterms:modified xsi:type="dcterms:W3CDTF">2026-08-27T06:50:37Z</dcterms:modified>
</cp:coreProperties>
</file>